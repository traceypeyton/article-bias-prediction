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5143500" cy="9144000"/>
  <p:embeddedFontLst>
    <p:embeddedFont>
      <p:font typeface="DM Sans ExtraBold"/>
      <p:bold r:id="rId25"/>
      <p:boldItalic r:id="rId26"/>
    </p:embeddedFont>
    <p:embeddedFont>
      <p:font typeface="DM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gzuXVZ+Xg7hljOXxgDt9iJnyg1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67CA30-3D2C-4D44-877D-7B8A4AF049F4}">
  <a:tblStyle styleId="{7967CA30-3D2C-4D44-877D-7B8A4AF049F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DMSansExtraBold-boldItalic.fntdata"/><Relationship Id="rId25" Type="http://schemas.openxmlformats.org/officeDocument/2006/relationships/font" Target="fonts/DMSansExtraBold-bold.fntdata"/><Relationship Id="rId28" Type="http://schemas.openxmlformats.org/officeDocument/2006/relationships/font" Target="fonts/DMSans-bold.fntdata"/><Relationship Id="rId27" Type="http://schemas.openxmlformats.org/officeDocument/2006/relationships/font" Target="fonts/DM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DMSans-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DM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 name="Shape 8"/>
        <p:cNvGrpSpPr/>
        <p:nvPr/>
      </p:nvGrpSpPr>
      <p:grpSpPr>
        <a:xfrm>
          <a:off x="0" y="0"/>
          <a:ext cx="0" cy="0"/>
          <a:chOff x="0" y="0"/>
          <a:chExt cx="0" cy="0"/>
        </a:xfrm>
      </p:grpSpPr>
      <p:sp>
        <p:nvSpPr>
          <p:cNvPr id="9" name="Google Shape;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 name="Google Shape;1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Welcome everyone. Today we're presenting our project on using deep learning to detect political bias in news articles at the individual article level — not just by source. We'll walk you through our question, our approach, our results, and what we think they mean.</a:t>
            </a:r>
            <a:endParaRPr/>
          </a:p>
        </p:txBody>
      </p:sp>
      <p:sp>
        <p:nvSpPr>
          <p:cNvPr id="11" name="Google Shape;1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g3e59a2df685_0_0: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 name="Google Shape;19;g3e59a2df685_0_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 name="Google Shape;2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Political bias in media is well-documented, but most existing tools — like the Ad Fontes Media Bias Chart or AllSides — classify entire outlets, not individual articles. Our project asks: can we do better? Can we look at the text of an article itself and determine its political leaning? This has real downstream applications: a reader literacy tool, a recommendation engine that surfaces ideologically diverse content, or an automated moderation pipeline.</a:t>
            </a:r>
            <a:endParaRPr/>
          </a:p>
        </p:txBody>
      </p:sp>
      <p:sp>
        <p:nvSpPr>
          <p:cNvPr id="28" name="Google Shape;2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SzPts val="1100"/>
              <a:buNone/>
            </a:pPr>
            <a:r>
              <a:rPr lang="en-US" sz="1200"/>
              <a:t>Here, our central question is whether we can determine political leaning just by analyzing the text of an article. This idea is grounded in the Distributional Hypothesis, which suggests that words appearing in similar contexts tend to have similar meanings. To start, we built a bidirectional LSTM that learned word embeddings from scratch. Based on feedback from reviewers, we later switched to an ordinal DistilRoBERTa model. What sets our approach apart is that we focus on labeling individual articles based only on their content, rather than relying on the source.</a:t>
            </a:r>
            <a:endParaRPr/>
          </a:p>
        </p:txBody>
      </p:sp>
      <p:sp>
        <p:nvSpPr>
          <p:cNvPr id="50" name="Google Shape;5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SzPts val="1100"/>
              <a:buNone/>
            </a:pPr>
            <a:r>
              <a:rPr lang="en-US" sz="1200"/>
              <a:t>To put our work in context, we drew on several important papers. Baly et al. 2018 is a foundational study on classifying political bias at the source level. More recently, ChunkyBERT introduced transformer-based chunking, which achieves higher accuracy but at the cost of much greater computational resources. By incorporating a transformer into our own method, we aimed to close that performance gap. We also made use of the EMNLP 2020 Article-Bias-Prediction paper, which provided our dataset, a helpful suggestion from our instructor after our initial proposal.</a:t>
            </a:r>
            <a:endParaRPr/>
          </a:p>
        </p:txBody>
      </p:sp>
      <p:sp>
        <p:nvSpPr>
          <p:cNvPr id="59" name="Google Shape;5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We used the Article-Bias-Prediction dataset from the EMNLP 2020 paper. It has 37,554 articles across 12 columns including article content, source, and bias label. Crucially, there are zero missing values, the class distribution is fairly balanced across left, right, and center, and articles average over 1,000 words — plenty of signal for a sequence model. The labels come from external media bias assessments aggregated across multiple organizations, which is more robust than a single source's judgment.</a:t>
            </a:r>
            <a:endParaRPr/>
          </a:p>
        </p:txBody>
      </p:sp>
      <p:sp>
        <p:nvSpPr>
          <p:cNvPr id="79" name="Google Shape;7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SzPts val="1100"/>
              <a:buNone/>
            </a:pPr>
            <a:r>
              <a:rPr lang="en-US" sz="1200"/>
              <a:t>Here, you can see the first version of our pipeline, which uses a BiLSTM model. The process starts by preprocessing the article text, tokenizing it, keeping the top 5,000 words, and then padding or truncating each sequence to 500 tokens. The model learns 128-dimensional word embeddings from scratch and uses two stacked bidirectional LSTMs to classify articles as left, center, or right via softmax. This baseline reached 61.4% accuracy, which is well above the 33% expected by chance. However, after receiving feedback from reviewers, we realized there was room to improve both the model architecture and the loss function. The next two slides walk through the changes we made and why.</a:t>
            </a:r>
            <a:endParaRPr/>
          </a:p>
        </p:txBody>
      </p:sp>
      <p:sp>
        <p:nvSpPr>
          <p:cNvPr id="107" name="Google Shape;10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SzPts val="1100"/>
              <a:buNone/>
            </a:pPr>
            <a:r>
              <a:rPr lang="en-US" sz="1200"/>
              <a:t>The BiLSTM model trained for 7 epochs, but early stopping kicked in and brought us back to the weights from epoch 4, which is where the model generalized best. We saw a validation accuracy of 61.4%, compared to a training accuracy of 69.8%. This suggests the model was able to pick up on real patterns in the data without overfitting too much. These results give us a solid starting point and show that the task is indeed learnable, setting a clear benchmark for our improved model to beat.</a:t>
            </a:r>
            <a:endParaRPr/>
          </a:p>
        </p:txBody>
      </p:sp>
      <p:sp>
        <p:nvSpPr>
          <p:cNvPr id="146" name="Google Shape;14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SzPts val="1100"/>
              <a:buNone/>
            </a:pPr>
            <a:r>
              <a:rPr lang="en-US" sz="1200"/>
              <a:t>When we tested the BiLSTM on 7,511 articles that weren’t used in training, it reached 61.4% accuracy, almost double what you’d expect from random guessing. The model did best on right-leaning articles, with an F1 score of 0.64, followed by left at 0.61, and center at 0.58, which proved trickier. The confusion matrix shows that center articles often get misclassified as left or right, which makes sense since centrist writing tends to share vocabulary with both sides. Keep these numbers in mind, because our upgraded model improves on all three categories.</a:t>
            </a:r>
            <a:endParaRPr/>
          </a:p>
        </p:txBody>
      </p:sp>
      <p:sp>
        <p:nvSpPr>
          <p:cNvPr id="167" name="Google Shape;16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 name="Google Shape;18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SzPts val="1100"/>
              <a:buNone/>
            </a:pPr>
            <a:r>
              <a:rPr lang="en-US" sz="1200"/>
              <a:t>To see how the baseline model performed in practice, we tested it on 1,990 new articles from six different sources. None of these articles were in our training set, so this was a true out-of-sample test. The model’s predictions leaned toward the center: 49.9% center, 31.9% left, and 18.2% right, which matches the fact that most of our sources are close to the center on the Media Bias Chart. The average confidence was 64.5%, and about 28% of articles had confidence scores below 0.5.</a:t>
            </a:r>
            <a:endParaRPr/>
          </a:p>
        </p:txBody>
      </p:sp>
      <p:sp>
        <p:nvSpPr>
          <p:cNvPr id="182" name="Google Shape;18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 name="Google Shape;22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This is our most important slide concerning our baseline model. The per-source breakdown tells a nuanced story. NPR, which we originally designated as a centrist validation source, is predicted nearly evenly across all three classes. The model doesn't know what to do with it, which is actually the right answer for a genuinely centrist outlet. FOX is the surprise. Despite being widely recognized as right-leaning, the model labeled more FOX articles as left than right. This is our key finding, it tells us something important about what the model actually learned.</a:t>
            </a:r>
            <a:endParaRPr sz="1200"/>
          </a:p>
        </p:txBody>
      </p:sp>
      <p:sp>
        <p:nvSpPr>
          <p:cNvPr id="221" name="Google Shape;22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17: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US"/>
              <a:t>After we shared our first results, we got two helpful suggestions. The first was to try a transformer model like RoBERTa instead of an LSTM, since transformers can capture more context in the text. The second was to use ordinal encoding, which treats left, center, and right as points along a spectrum, so that mistakes between left and right are penalized more than mistakes between left and center. We took both pieces of advice: we upgraded to DistilRoBERTa, a lighter version of RoBERTa that’s already been trained on large text corpora, and we swapped out softmax for cumulative ordinal encoding using binary cross-entropy for each bit.</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18: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US"/>
              <a:t>After the upgrade, we saw improvements across every metric we tracked. Overall accuracy jumped from 61.4% to 71.9%, which is a solid 10.5 percentage point increase. Looking at the F1 scores for each class, all three categories improved, but the biggest gain was in center articles, which went from 0.58 to 0.72. This is especially important because the center class has always been the hardest for the LSTM to get right. We also have two new metrics that give us a better sense of model performance. The ordinal MAE is 0.39 on a 0-to-2 scale, so on average, predictions are less than half a step off on the ideological spectrum. The severe error rate is 10.9%, meaning about one in nine predictions are completely flipped to the opposite side. What stands out most is that both FOX and NPR stories, our main baseline examples, show much better results after the upgrade.</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19: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US"/>
              <a:t>Now, looking more closely at the confusion matrix, the center row really stands out: 288 out of 299 center articles were predicted correctly, which gives us a recall of 0.96. This is a dramatic improvement compared to the LSTM, where center was consistently the weakest class. The normalized matrix backs this up; center is now almost perfectly identified. The main area where the model still struggles is with right-leaning articles: 141 out of 599 are being pulled toward the center, so the right recall is only 0.63. However, it's important to note that only 82 right articles are confused with left, which shows the ordinal model is behaving as intended. When the model misclassifies right articles, it tends to err toward center rather than jumping across the spectrum. The ordinal error distance chart illustrates this: 935 exact predictions, 223 adjacent-class errors, and only 142 opposite-pole confusions. In short, the ordinal encoding is doing exactly what it was designed to do.</a:t>
            </a:r>
            <a:endParaRPr/>
          </a:p>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0: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SzPts val="1100"/>
              <a:buNone/>
            </a:pPr>
            <a:r>
              <a:rPr lang="en-US" sz="1200"/>
              <a:t>This slide makes it clear how much things improved after the upgrade. For FOX, the percentage of articles predicted as right increased from 11.6% to 74.9%, which is a complete reversal. At the same time, FOX articles predicted as left dropped from 51.4% to just 8.5%. For NPR, the proportion of center predictions rose from 31.3% to 64.7%. Essentially, the biggest out-of-distribution problem we saw with the baseline model has been resolved. This matches what we observed in the test set: the LSTM struggled with FOX due to a mismatch in the training data, but the transformer's pretrained contextual representations were able to address that issue.</a:t>
            </a:r>
            <a:endParaRPr/>
          </a:p>
        </p:txBody>
      </p:sp>
      <p:sp>
        <p:nvSpPr>
          <p:cNvPr id="288" name="Google Shape;288;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lang="en-US"/>
              <a:t>So, what do these results actually tell us? The BiLSTM’s trouble with FOX wasn’t because the task itself is impossible, but rather because the model mostly learned the writing style of certain outlets instead of the deeper ideological patterns. By switching to RoBERTa and using pretrained contextual embeddings, we were able to get more flexible and generalizable representations, as shown by the big improvement with FOX. Using ordinal encoding also changed the way the model makes mistakes: now, most errors are between neighboring classes instead of jumping from left to right, which is exactly what we hoped for with this approach.</a:t>
            </a:r>
            <a:endParaRPr/>
          </a:p>
          <a:p>
            <a:pPr indent="0" lvl="0" marL="0" marR="0" rtl="0" algn="l">
              <a:lnSpc>
                <a:spcPct val="100000"/>
              </a:lnSpc>
              <a:spcBef>
                <a:spcPts val="0"/>
              </a:spcBef>
              <a:spcAft>
                <a:spcPts val="0"/>
              </a:spcAft>
              <a:buSzPts val="1100"/>
              <a:buNone/>
            </a:pPr>
            <a:r>
              <a:t/>
            </a:r>
            <a:endParaRPr/>
          </a:p>
        </p:txBody>
      </p:sp>
      <p:sp>
        <p:nvSpPr>
          <p:cNvPr id="298" name="Google Shape;298;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We want to be honest about the ethical stakes here. Political bias classification, if deployed carelessly, can do real harm. The label categories are crude. The training data carries its own biases. And a model that confidently mislabels a major news outlet could be weaponized to make false claims about media bias — exactly the opposite of our intent. Responsible deployment means confidence thresholds, transparency about methodology, and treating outputs as probabilistic signals, not facts.</a:t>
            </a:r>
            <a:endParaRPr/>
          </a:p>
        </p:txBody>
      </p:sp>
      <p:sp>
        <p:nvSpPr>
          <p:cNvPr id="317" name="Google Shape;31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SzPts val="1100"/>
              <a:buNone/>
            </a:pPr>
            <a:r>
              <a:rPr lang="en-US" sz="1200"/>
              <a:t>It’s important to be upfront about what our model can and can’t do. While the transformer upgrade solved the FOX issue, we’re still limited by our training data, which only comes from the Article-Bias-Prediction set. Bringing in more diverse data could help. Right now, the model tends to over-predict the center: recall is high at 0.96, but precision is only 0.58, so it often calls uncertain articles centrist. Tweaking the thresholds for each class might help balance this out. Looking ahead, we plan to fully fine-tune RoBERTa-large, try out social media data, and work on calibrating the model’s confidence.</a:t>
            </a:r>
            <a:endParaRPr/>
          </a:p>
        </p:txBody>
      </p:sp>
      <p:sp>
        <p:nvSpPr>
          <p:cNvPr id="336" name="Google Shape;336;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158750" rtl="0" algn="l">
              <a:lnSpc>
                <a:spcPct val="100000"/>
              </a:lnSpc>
              <a:spcBef>
                <a:spcPts val="0"/>
              </a:spcBef>
              <a:spcAft>
                <a:spcPts val="0"/>
              </a:spcAft>
              <a:buSzPts val="1100"/>
              <a:buNone/>
            </a:pPr>
            <a:r>
              <a:rPr lang="en-US" sz="1200"/>
              <a:t>To sum up, we found that it is possible to identify political leaning from article text, and our accuracy improved from 61.4% to 71.9% after we took reviewer feedback into account. Ordinal encoding helped make our errors more balanced, with most mistakes happening between neighboring classes instead of jumping from one extreme to the other. The FOX misclassification we saw at the start turned out to be a training data issue, which we fixed by upgrading to a transformer model. NPR’s center prediction also improved a lot. As we move forward, it’s important to keep ethical considerations in mind, like setting confidence thresholds, being transparent about our data, and using probabilistic approaches. Thanks for your attention.</a:t>
            </a:r>
            <a:endParaRPr/>
          </a:p>
        </p:txBody>
      </p:sp>
      <p:sp>
        <p:nvSpPr>
          <p:cNvPr id="362" name="Google Shape;362;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 name="Shape 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C8E"/>
        </a:solidFill>
      </p:bgPr>
    </p:bg>
    <p:spTree>
      <p:nvGrpSpPr>
        <p:cNvPr id="12" name="Shape 12"/>
        <p:cNvGrpSpPr/>
        <p:nvPr/>
      </p:nvGrpSpPr>
      <p:grpSpPr>
        <a:xfrm>
          <a:off x="0" y="0"/>
          <a:ext cx="0" cy="0"/>
          <a:chOff x="0" y="0"/>
          <a:chExt cx="0" cy="0"/>
        </a:xfrm>
      </p:grpSpPr>
      <p:sp>
        <p:nvSpPr>
          <p:cNvPr id="13" name="Google Shape;13;p1"/>
          <p:cNvSpPr/>
          <p:nvPr/>
        </p:nvSpPr>
        <p:spPr>
          <a:xfrm>
            <a:off x="640080" y="1310771"/>
            <a:ext cx="7863900" cy="100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4400"/>
              <a:buFont typeface="Calibri"/>
              <a:buNone/>
            </a:pPr>
            <a:r>
              <a:rPr b="1" i="0" lang="en-US" sz="4400" u="none" cap="none" strike="noStrike">
                <a:solidFill>
                  <a:srgbClr val="FFFFFF"/>
                </a:solidFill>
                <a:latin typeface="DM Sans"/>
                <a:ea typeface="DM Sans"/>
                <a:cs typeface="DM Sans"/>
                <a:sym typeface="DM Sans"/>
              </a:rPr>
              <a:t>Detecting Political Bias</a:t>
            </a:r>
            <a:endParaRPr b="1" i="0" sz="4400" u="none" cap="none" strike="noStrike">
              <a:solidFill>
                <a:schemeClr val="dk1"/>
              </a:solidFill>
              <a:latin typeface="DM Sans"/>
              <a:ea typeface="DM Sans"/>
              <a:cs typeface="DM Sans"/>
              <a:sym typeface="DM Sans"/>
            </a:endParaRPr>
          </a:p>
        </p:txBody>
      </p:sp>
      <p:sp>
        <p:nvSpPr>
          <p:cNvPr id="14" name="Google Shape;14;p1"/>
          <p:cNvSpPr/>
          <p:nvPr/>
        </p:nvSpPr>
        <p:spPr>
          <a:xfrm>
            <a:off x="640080" y="2057400"/>
            <a:ext cx="786384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2800"/>
              <a:buFont typeface="Calibri"/>
              <a:buNone/>
            </a:pPr>
            <a:r>
              <a:rPr b="0" i="0" lang="en-US" sz="2800" u="none" cap="none" strike="noStrike">
                <a:solidFill>
                  <a:srgbClr val="E3E3E3"/>
                </a:solidFill>
                <a:latin typeface="DM Sans"/>
                <a:ea typeface="DM Sans"/>
                <a:cs typeface="DM Sans"/>
                <a:sym typeface="DM Sans"/>
              </a:rPr>
              <a:t>in News Articles Using Deep Learning</a:t>
            </a:r>
            <a:endParaRPr b="0" i="0" sz="2800" u="none" cap="none" strike="noStrike">
              <a:solidFill>
                <a:srgbClr val="E3E3E3"/>
              </a:solidFill>
              <a:latin typeface="DM Sans"/>
              <a:ea typeface="DM Sans"/>
              <a:cs typeface="DM Sans"/>
              <a:sym typeface="DM Sans"/>
            </a:endParaRPr>
          </a:p>
        </p:txBody>
      </p:sp>
      <p:sp>
        <p:nvSpPr>
          <p:cNvPr id="15" name="Google Shape;15;p1"/>
          <p:cNvSpPr/>
          <p:nvPr/>
        </p:nvSpPr>
        <p:spPr>
          <a:xfrm>
            <a:off x="640080" y="2834640"/>
            <a:ext cx="2286000" cy="45720"/>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
          <p:cNvSpPr/>
          <p:nvPr/>
        </p:nvSpPr>
        <p:spPr>
          <a:xfrm>
            <a:off x="640080" y="3063239"/>
            <a:ext cx="7315200" cy="53557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E3E3E3"/>
                </a:solidFill>
                <a:latin typeface="DM Sans"/>
                <a:ea typeface="DM Sans"/>
                <a:cs typeface="DM Sans"/>
                <a:sym typeface="DM Sans"/>
              </a:rPr>
              <a:t>KTPML: Lasya Suravajhela, Kellin Harris, Prashant Joshi, Michael Long, Tracey Peyton</a:t>
            </a:r>
            <a:endParaRPr b="0" i="0" sz="1400" u="none" cap="none" strike="noStrike">
              <a:solidFill>
                <a:srgbClr val="E3E3E3"/>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g3e59a2df685_0_0"/>
          <p:cNvSpPr/>
          <p:nvPr/>
        </p:nvSpPr>
        <p:spPr>
          <a:xfrm>
            <a:off x="394302" y="1253450"/>
            <a:ext cx="4604100" cy="248100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Clr>
                <a:srgbClr val="000000"/>
              </a:buClr>
              <a:buSzPts val="1600"/>
              <a:buFont typeface="Arial"/>
              <a:buNone/>
            </a:pPr>
            <a:r>
              <a:rPr b="0" i="0" lang="en-US" sz="1600" u="none" cap="none" strike="noStrike">
                <a:solidFill>
                  <a:schemeClr val="dk1"/>
                </a:solidFill>
                <a:latin typeface="DM Sans"/>
                <a:ea typeface="DM Sans"/>
                <a:cs typeface="DM Sans"/>
                <a:sym typeface="DM Sans"/>
              </a:rPr>
              <a:t>Imagine you are reading two news articles about the same economic report. One leads with job growth and the other leads with wage stagnation. </a:t>
            </a:r>
            <a:endParaRPr b="0" i="0" sz="1600" u="none" cap="none" strike="noStrike">
              <a:solidFill>
                <a:schemeClr val="dk1"/>
              </a:solidFill>
              <a:latin typeface="DM Sans"/>
              <a:ea typeface="DM Sans"/>
              <a:cs typeface="DM Sans"/>
              <a:sym typeface="DM Sans"/>
            </a:endParaRPr>
          </a:p>
          <a:p>
            <a:pPr indent="0" lvl="0" marL="0" marR="0" rtl="0" algn="l">
              <a:lnSpc>
                <a:spcPct val="140001"/>
              </a:lnSpc>
              <a:spcBef>
                <a:spcPts val="0"/>
              </a:spcBef>
              <a:spcAft>
                <a:spcPts val="0"/>
              </a:spcAft>
              <a:buClr>
                <a:srgbClr val="000000"/>
              </a:buClr>
              <a:buSzPts val="1600"/>
              <a:buFont typeface="Arial"/>
              <a:buNone/>
            </a:pPr>
            <a:r>
              <a:t/>
            </a:r>
            <a:endParaRPr b="0" i="0" sz="1600" u="none" cap="none" strike="noStrike">
              <a:solidFill>
                <a:schemeClr val="dk1"/>
              </a:solidFill>
              <a:latin typeface="DM Sans"/>
              <a:ea typeface="DM Sans"/>
              <a:cs typeface="DM Sans"/>
              <a:sym typeface="DM Sans"/>
            </a:endParaRPr>
          </a:p>
          <a:p>
            <a:pPr indent="0" lvl="0" marL="0" marR="0" rtl="0" algn="l">
              <a:lnSpc>
                <a:spcPct val="140001"/>
              </a:lnSpc>
              <a:spcBef>
                <a:spcPts val="0"/>
              </a:spcBef>
              <a:spcAft>
                <a:spcPts val="0"/>
              </a:spcAft>
              <a:buClr>
                <a:srgbClr val="000000"/>
              </a:buClr>
              <a:buSzPts val="1600"/>
              <a:buFont typeface="Arial"/>
              <a:buNone/>
            </a:pPr>
            <a:r>
              <a:rPr b="0" i="0" lang="en-US" sz="1600" u="none" cap="none" strike="noStrike">
                <a:solidFill>
                  <a:schemeClr val="dk1"/>
                </a:solidFill>
                <a:latin typeface="DM Sans"/>
                <a:ea typeface="DM Sans"/>
                <a:cs typeface="DM Sans"/>
                <a:sym typeface="DM Sans"/>
              </a:rPr>
              <a:t>It's the same data, same day, but you were presented the information in a different way </a:t>
            </a:r>
            <a:endParaRPr b="0" i="0" sz="1600" u="none" cap="none" strike="noStrike">
              <a:solidFill>
                <a:schemeClr val="dk1"/>
              </a:solidFill>
              <a:latin typeface="DM Sans"/>
              <a:ea typeface="DM Sans"/>
              <a:cs typeface="DM Sans"/>
              <a:sym typeface="DM Sans"/>
            </a:endParaRPr>
          </a:p>
        </p:txBody>
      </p:sp>
      <p:sp>
        <p:nvSpPr>
          <p:cNvPr id="22" name="Google Shape;22;g3e59a2df685_0_0"/>
          <p:cNvSpPr/>
          <p:nvPr/>
        </p:nvSpPr>
        <p:spPr>
          <a:xfrm>
            <a:off x="389965" y="4025446"/>
            <a:ext cx="4604100" cy="813300"/>
          </a:xfrm>
          <a:prstGeom prst="rect">
            <a:avLst/>
          </a:prstGeom>
          <a:noFill/>
          <a:ln>
            <a:noFill/>
          </a:ln>
        </p:spPr>
        <p:txBody>
          <a:bodyPr anchorCtr="0" anchor="t" bIns="45700" lIns="91425" spcFirstLastPara="1" rIns="91425" wrap="square" tIns="45700">
            <a:noAutofit/>
          </a:bodyPr>
          <a:lstStyle/>
          <a:p>
            <a:pPr indent="0" lvl="0" marL="0" marR="0" rtl="0" algn="l">
              <a:lnSpc>
                <a:spcPct val="140001"/>
              </a:lnSpc>
              <a:spcBef>
                <a:spcPts val="0"/>
              </a:spcBef>
              <a:spcAft>
                <a:spcPts val="0"/>
              </a:spcAft>
              <a:buClr>
                <a:srgbClr val="000000"/>
              </a:buClr>
              <a:buSzPts val="1600"/>
              <a:buFont typeface="Arial"/>
              <a:buNone/>
            </a:pPr>
            <a:r>
              <a:rPr b="0" i="0" lang="en-US" sz="1600" u="none" cap="none" strike="noStrike">
                <a:solidFill>
                  <a:schemeClr val="lt1"/>
                </a:solidFill>
                <a:highlight>
                  <a:srgbClr val="008C8E"/>
                </a:highlight>
                <a:latin typeface="DM Sans ExtraBold"/>
                <a:ea typeface="DM Sans ExtraBold"/>
                <a:cs typeface="DM Sans ExtraBold"/>
                <a:sym typeface="DM Sans ExtraBold"/>
              </a:rPr>
              <a:t>This is political framing in media and many readers don’t notice it happening. </a:t>
            </a:r>
            <a:endParaRPr b="0" i="0" sz="1600" u="none" cap="none" strike="noStrike">
              <a:solidFill>
                <a:schemeClr val="lt1"/>
              </a:solidFill>
              <a:highlight>
                <a:srgbClr val="008C8E"/>
              </a:highlight>
              <a:latin typeface="DM Sans ExtraBold"/>
              <a:ea typeface="DM Sans ExtraBold"/>
              <a:cs typeface="DM Sans ExtraBold"/>
              <a:sym typeface="DM Sans ExtraBold"/>
            </a:endParaRPr>
          </a:p>
        </p:txBody>
      </p:sp>
      <p:pic>
        <p:nvPicPr>
          <p:cNvPr id="23" name="Google Shape;23;g3e59a2df685_0_0" title="news image.jpg"/>
          <p:cNvPicPr preferRelativeResize="0"/>
          <p:nvPr/>
        </p:nvPicPr>
        <p:blipFill rotWithShape="1">
          <a:blip r:embed="rId3">
            <a:alphaModFix/>
          </a:blip>
          <a:srcRect b="0" l="27556" r="27551" t="0"/>
          <a:stretch/>
        </p:blipFill>
        <p:spPr>
          <a:xfrm>
            <a:off x="5596335" y="88"/>
            <a:ext cx="3457080" cy="5143320"/>
          </a:xfrm>
          <a:prstGeom prst="rect">
            <a:avLst/>
          </a:prstGeom>
          <a:noFill/>
          <a:ln>
            <a:noFill/>
          </a:ln>
        </p:spPr>
      </p:pic>
      <p:sp>
        <p:nvSpPr>
          <p:cNvPr id="24" name="Google Shape;24;g3e59a2df685_0_0"/>
          <p:cNvSpPr/>
          <p:nvPr/>
        </p:nvSpPr>
        <p:spPr>
          <a:xfrm>
            <a:off x="457200" y="511330"/>
            <a:ext cx="8229600" cy="59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Introduction</a:t>
            </a:r>
            <a:endParaRPr b="0" i="0" sz="2800" u="none" cap="none" strike="noStrike">
              <a:solidFill>
                <a:srgbClr val="008C8E"/>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p:nvPr/>
        </p:nvSpPr>
        <p:spPr>
          <a:xfrm>
            <a:off x="457200" y="255902"/>
            <a:ext cx="8229600" cy="42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Motivation</a:t>
            </a:r>
            <a:endParaRPr b="0" i="0" sz="2800" u="none" cap="none" strike="noStrike">
              <a:solidFill>
                <a:srgbClr val="008C8E"/>
              </a:solidFill>
              <a:latin typeface="DM Sans"/>
              <a:ea typeface="DM Sans"/>
              <a:cs typeface="DM Sans"/>
              <a:sym typeface="DM Sans"/>
            </a:endParaRPr>
          </a:p>
        </p:txBody>
      </p:sp>
      <p:sp>
        <p:nvSpPr>
          <p:cNvPr id="31" name="Google Shape;31;p2"/>
          <p:cNvSpPr/>
          <p:nvPr/>
        </p:nvSpPr>
        <p:spPr>
          <a:xfrm>
            <a:off x="457200" y="777240"/>
            <a:ext cx="82296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Calibri"/>
              <a:buNone/>
            </a:pPr>
            <a:r>
              <a:rPr b="0" i="0" lang="en-US" sz="1400" u="none" cap="none" strike="noStrike">
                <a:solidFill>
                  <a:srgbClr val="64748B"/>
                </a:solidFill>
                <a:latin typeface="DM Sans"/>
                <a:ea typeface="DM Sans"/>
                <a:cs typeface="DM Sans"/>
                <a:sym typeface="DM Sans"/>
              </a:rPr>
              <a:t>Why should we care?</a:t>
            </a:r>
            <a:endParaRPr b="0" i="0" sz="1400" u="none" cap="none" strike="noStrike">
              <a:solidFill>
                <a:schemeClr val="dk1"/>
              </a:solidFill>
              <a:latin typeface="DM Sans"/>
              <a:ea typeface="DM Sans"/>
              <a:cs typeface="DM Sans"/>
              <a:sym typeface="DM Sans"/>
            </a:endParaRPr>
          </a:p>
        </p:txBody>
      </p:sp>
      <p:sp>
        <p:nvSpPr>
          <p:cNvPr id="32" name="Google Shape;32;p2"/>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3" name="Google Shape;33;p2"/>
          <p:cNvSpPr/>
          <p:nvPr/>
        </p:nvSpPr>
        <p:spPr>
          <a:xfrm>
            <a:off x="457200" y="1188720"/>
            <a:ext cx="5120640" cy="960120"/>
          </a:xfrm>
          <a:prstGeom prst="rect">
            <a:avLst/>
          </a:prstGeom>
          <a:solidFill>
            <a:srgbClr val="F3F3F3"/>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rgbClr val="E3E3E3"/>
              </a:highlight>
              <a:latin typeface="DM Sans"/>
              <a:ea typeface="DM Sans"/>
              <a:cs typeface="DM Sans"/>
              <a:sym typeface="DM Sans"/>
            </a:endParaRPr>
          </a:p>
        </p:txBody>
      </p:sp>
      <p:sp>
        <p:nvSpPr>
          <p:cNvPr id="34" name="Google Shape;34;p2"/>
          <p:cNvSpPr/>
          <p:nvPr/>
        </p:nvSpPr>
        <p:spPr>
          <a:xfrm>
            <a:off x="551455" y="1261872"/>
            <a:ext cx="4846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Calibri"/>
              <a:buNone/>
            </a:pPr>
            <a:r>
              <a:rPr b="1" i="0" lang="en-US" sz="1400" u="none" cap="none" strike="noStrike">
                <a:solidFill>
                  <a:srgbClr val="1E2761"/>
                </a:solidFill>
                <a:latin typeface="DM Sans"/>
                <a:ea typeface="DM Sans"/>
                <a:cs typeface="DM Sans"/>
                <a:sym typeface="DM Sans"/>
              </a:rPr>
              <a:t> Media bias is pervasive</a:t>
            </a:r>
            <a:endParaRPr b="0" i="0" sz="1400" u="none" cap="none" strike="noStrike">
              <a:solidFill>
                <a:srgbClr val="1E2761"/>
              </a:solidFill>
              <a:latin typeface="DM Sans"/>
              <a:ea typeface="DM Sans"/>
              <a:cs typeface="DM Sans"/>
              <a:sym typeface="DM Sans"/>
            </a:endParaRPr>
          </a:p>
        </p:txBody>
      </p:sp>
      <p:sp>
        <p:nvSpPr>
          <p:cNvPr id="35" name="Google Shape;35;p2"/>
          <p:cNvSpPr/>
          <p:nvPr/>
        </p:nvSpPr>
        <p:spPr>
          <a:xfrm>
            <a:off x="594360" y="1572768"/>
            <a:ext cx="4846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0" i="0" lang="en-US" sz="1200" u="none" cap="none" strike="noStrike">
                <a:solidFill>
                  <a:srgbClr val="1E293B"/>
                </a:solidFill>
                <a:latin typeface="DM Sans"/>
                <a:ea typeface="DM Sans"/>
                <a:cs typeface="DM Sans"/>
                <a:sym typeface="DM Sans"/>
              </a:rPr>
              <a:t>Most tools classify bias at the source level by labeling outlets but they fail to categorize individual articles.</a:t>
            </a:r>
            <a:endParaRPr b="0" i="0" sz="1200" u="none" cap="none" strike="noStrike">
              <a:solidFill>
                <a:schemeClr val="dk1"/>
              </a:solidFill>
              <a:latin typeface="DM Sans"/>
              <a:ea typeface="DM Sans"/>
              <a:cs typeface="DM Sans"/>
              <a:sym typeface="DM Sans"/>
            </a:endParaRPr>
          </a:p>
        </p:txBody>
      </p:sp>
      <p:sp>
        <p:nvSpPr>
          <p:cNvPr id="36" name="Google Shape;36;p2"/>
          <p:cNvSpPr/>
          <p:nvPr/>
        </p:nvSpPr>
        <p:spPr>
          <a:xfrm>
            <a:off x="457200" y="2331720"/>
            <a:ext cx="5120640" cy="960120"/>
          </a:xfrm>
          <a:prstGeom prst="rect">
            <a:avLst/>
          </a:prstGeom>
          <a:solidFill>
            <a:srgbClr val="F3F3F3"/>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rgbClr val="E3E3E3"/>
              </a:highlight>
              <a:latin typeface="DM Sans"/>
              <a:ea typeface="DM Sans"/>
              <a:cs typeface="DM Sans"/>
              <a:sym typeface="DM Sans"/>
            </a:endParaRPr>
          </a:p>
        </p:txBody>
      </p:sp>
      <p:sp>
        <p:nvSpPr>
          <p:cNvPr id="37" name="Google Shape;37;p2"/>
          <p:cNvSpPr/>
          <p:nvPr/>
        </p:nvSpPr>
        <p:spPr>
          <a:xfrm>
            <a:off x="620103" y="2404872"/>
            <a:ext cx="48462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Calibri"/>
              <a:buNone/>
            </a:pPr>
            <a:r>
              <a:rPr b="1" i="0" lang="en-US" sz="1400" u="none" cap="none" strike="noStrike">
                <a:solidFill>
                  <a:srgbClr val="1E2761"/>
                </a:solidFill>
                <a:latin typeface="DM Sans"/>
                <a:ea typeface="DM Sans"/>
                <a:cs typeface="DM Sans"/>
                <a:sym typeface="DM Sans"/>
              </a:rPr>
              <a:t>Article-level matters</a:t>
            </a:r>
            <a:endParaRPr b="0" i="0" sz="1400" u="none" cap="none" strike="noStrike">
              <a:solidFill>
                <a:srgbClr val="1E2761"/>
              </a:solidFill>
              <a:latin typeface="DM Sans"/>
              <a:ea typeface="DM Sans"/>
              <a:cs typeface="DM Sans"/>
              <a:sym typeface="DM Sans"/>
            </a:endParaRPr>
          </a:p>
        </p:txBody>
      </p:sp>
      <p:sp>
        <p:nvSpPr>
          <p:cNvPr id="38" name="Google Shape;38;p2"/>
          <p:cNvSpPr/>
          <p:nvPr/>
        </p:nvSpPr>
        <p:spPr>
          <a:xfrm>
            <a:off x="628684" y="2715768"/>
            <a:ext cx="4846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0" i="0" lang="en-US" sz="1200" u="none" cap="none" strike="noStrike">
                <a:solidFill>
                  <a:srgbClr val="1E293B"/>
                </a:solidFill>
                <a:latin typeface="DM Sans"/>
                <a:ea typeface="DM Sans"/>
                <a:cs typeface="DM Sans"/>
                <a:sym typeface="DM Sans"/>
              </a:rPr>
              <a:t>A right-leaning outlet may publish centrist or nuanced content. Source labels miss this.</a:t>
            </a:r>
            <a:endParaRPr b="0" i="0" sz="1200" u="none" cap="none" strike="noStrike">
              <a:solidFill>
                <a:schemeClr val="dk1"/>
              </a:solidFill>
              <a:latin typeface="DM Sans"/>
              <a:ea typeface="DM Sans"/>
              <a:cs typeface="DM Sans"/>
              <a:sym typeface="DM Sans"/>
            </a:endParaRPr>
          </a:p>
        </p:txBody>
      </p:sp>
      <p:sp>
        <p:nvSpPr>
          <p:cNvPr id="39" name="Google Shape;39;p2"/>
          <p:cNvSpPr/>
          <p:nvPr/>
        </p:nvSpPr>
        <p:spPr>
          <a:xfrm>
            <a:off x="457200" y="3474720"/>
            <a:ext cx="5120640" cy="960120"/>
          </a:xfrm>
          <a:prstGeom prst="rect">
            <a:avLst/>
          </a:prstGeom>
          <a:solidFill>
            <a:srgbClr val="F3F3F3"/>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rgbClr val="E3E3E3"/>
              </a:highlight>
              <a:latin typeface="DM Sans"/>
              <a:ea typeface="DM Sans"/>
              <a:cs typeface="DM Sans"/>
              <a:sym typeface="DM Sans"/>
            </a:endParaRPr>
          </a:p>
        </p:txBody>
      </p:sp>
      <p:sp>
        <p:nvSpPr>
          <p:cNvPr id="40" name="Google Shape;40;p2"/>
          <p:cNvSpPr/>
          <p:nvPr/>
        </p:nvSpPr>
        <p:spPr>
          <a:xfrm>
            <a:off x="594360" y="3547872"/>
            <a:ext cx="48463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Calibri"/>
              <a:buNone/>
            </a:pPr>
            <a:r>
              <a:rPr b="1" i="0" lang="en-US" sz="1400" u="none" cap="none" strike="noStrike">
                <a:solidFill>
                  <a:srgbClr val="1E2761"/>
                </a:solidFill>
                <a:latin typeface="DM Sans"/>
                <a:ea typeface="DM Sans"/>
                <a:cs typeface="DM Sans"/>
                <a:sym typeface="DM Sans"/>
              </a:rPr>
              <a:t>Real-world impact</a:t>
            </a:r>
            <a:endParaRPr b="0" i="0" sz="1400" u="none" cap="none" strike="noStrike">
              <a:solidFill>
                <a:srgbClr val="1E2761"/>
              </a:solidFill>
              <a:latin typeface="DM Sans"/>
              <a:ea typeface="DM Sans"/>
              <a:cs typeface="DM Sans"/>
              <a:sym typeface="DM Sans"/>
            </a:endParaRPr>
          </a:p>
        </p:txBody>
      </p:sp>
      <p:sp>
        <p:nvSpPr>
          <p:cNvPr id="41" name="Google Shape;41;p2"/>
          <p:cNvSpPr/>
          <p:nvPr/>
        </p:nvSpPr>
        <p:spPr>
          <a:xfrm>
            <a:off x="594360" y="3858768"/>
            <a:ext cx="48463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0" i="0" lang="en-US" sz="1200" u="none" cap="none" strike="noStrike">
                <a:solidFill>
                  <a:srgbClr val="1E293B"/>
                </a:solidFill>
                <a:latin typeface="DM Sans"/>
                <a:ea typeface="DM Sans"/>
                <a:cs typeface="DM Sans"/>
                <a:sym typeface="DM Sans"/>
              </a:rPr>
              <a:t>Bias detection can inform media literacy tools, recommendation systems, and content moderation.</a:t>
            </a:r>
            <a:endParaRPr b="0" i="0" sz="1200" u="none" cap="none" strike="noStrike">
              <a:solidFill>
                <a:schemeClr val="dk1"/>
              </a:solidFill>
              <a:latin typeface="DM Sans"/>
              <a:ea typeface="DM Sans"/>
              <a:cs typeface="DM Sans"/>
              <a:sym typeface="DM Sans"/>
            </a:endParaRPr>
          </a:p>
        </p:txBody>
      </p:sp>
      <p:sp>
        <p:nvSpPr>
          <p:cNvPr id="42" name="Google Shape;42;p2"/>
          <p:cNvSpPr/>
          <p:nvPr/>
        </p:nvSpPr>
        <p:spPr>
          <a:xfrm>
            <a:off x="5852150" y="1188726"/>
            <a:ext cx="2834700" cy="32460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43" name="Google Shape;43;p2"/>
          <p:cNvSpPr/>
          <p:nvPr/>
        </p:nvSpPr>
        <p:spPr>
          <a:xfrm>
            <a:off x="5852185" y="1624925"/>
            <a:ext cx="2834700" cy="100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0"/>
              <a:buFont typeface="Calibri"/>
              <a:buNone/>
            </a:pPr>
            <a:r>
              <a:rPr b="1" i="0" lang="en-US" sz="8000" u="none" cap="none" strike="noStrike">
                <a:solidFill>
                  <a:srgbClr val="FFFFFF"/>
                </a:solidFill>
                <a:latin typeface="DM Sans"/>
                <a:ea typeface="DM Sans"/>
                <a:cs typeface="DM Sans"/>
                <a:sym typeface="DM Sans"/>
              </a:rPr>
              <a:t>6</a:t>
            </a:r>
            <a:endParaRPr b="0" i="0" sz="8000" u="none" cap="none" strike="noStrike">
              <a:solidFill>
                <a:schemeClr val="dk1"/>
              </a:solidFill>
              <a:latin typeface="DM Sans"/>
              <a:ea typeface="DM Sans"/>
              <a:cs typeface="DM Sans"/>
              <a:sym typeface="DM Sans"/>
            </a:endParaRPr>
          </a:p>
        </p:txBody>
      </p:sp>
      <p:sp>
        <p:nvSpPr>
          <p:cNvPr id="44" name="Google Shape;44;p2"/>
          <p:cNvSpPr/>
          <p:nvPr/>
        </p:nvSpPr>
        <p:spPr>
          <a:xfrm>
            <a:off x="5852160" y="2743220"/>
            <a:ext cx="2834700" cy="548700"/>
          </a:xfrm>
          <a:prstGeom prst="rect">
            <a:avLst/>
          </a:prstGeom>
          <a:solidFill>
            <a:srgbClr val="008C8E"/>
          </a:solidFill>
          <a:ln cap="flat" cmpd="sng" w="9525">
            <a:solidFill>
              <a:srgbClr val="008C8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600"/>
              <a:buFont typeface="Calibri"/>
              <a:buNone/>
            </a:pPr>
            <a:r>
              <a:rPr b="0" i="0" lang="en-US" sz="1600" u="none" cap="none" strike="noStrike">
                <a:solidFill>
                  <a:srgbClr val="E3E3E3"/>
                </a:solidFill>
                <a:latin typeface="DM Sans"/>
                <a:ea typeface="DM Sans"/>
                <a:cs typeface="DM Sans"/>
                <a:sym typeface="DM Sans"/>
              </a:rPr>
              <a:t>news sources</a:t>
            </a:r>
            <a:endParaRPr b="0" i="0" sz="1600" u="none" cap="none" strike="noStrike">
              <a:solidFill>
                <a:srgbClr val="E3E3E3"/>
              </a:solidFill>
              <a:latin typeface="DM Sans"/>
              <a:ea typeface="DM Sans"/>
              <a:cs typeface="DM Sans"/>
              <a:sym typeface="DM Sans"/>
            </a:endParaRPr>
          </a:p>
          <a:p>
            <a:pPr indent="0" lvl="0" marL="0" marR="0" rtl="0" algn="ctr">
              <a:lnSpc>
                <a:spcPct val="100000"/>
              </a:lnSpc>
              <a:spcBef>
                <a:spcPts val="0"/>
              </a:spcBef>
              <a:spcAft>
                <a:spcPts val="0"/>
              </a:spcAft>
              <a:buClr>
                <a:srgbClr val="CADCFC"/>
              </a:buClr>
              <a:buSzPts val="1600"/>
              <a:buFont typeface="Calibri"/>
              <a:buNone/>
            </a:pPr>
            <a:r>
              <a:rPr b="0" i="0" lang="en-US" sz="1600" u="none" cap="none" strike="noStrike">
                <a:solidFill>
                  <a:srgbClr val="E3E3E3"/>
                </a:solidFill>
                <a:latin typeface="DM Sans"/>
                <a:ea typeface="DM Sans"/>
                <a:cs typeface="DM Sans"/>
                <a:sym typeface="DM Sans"/>
              </a:rPr>
              <a:t>tested</a:t>
            </a:r>
            <a:endParaRPr b="0" i="0" sz="1600" u="none" cap="none" strike="noStrike">
              <a:solidFill>
                <a:srgbClr val="E3E3E3"/>
              </a:solidFill>
              <a:latin typeface="DM Sans"/>
              <a:ea typeface="DM Sans"/>
              <a:cs typeface="DM Sans"/>
              <a:sym typeface="DM Sans"/>
            </a:endParaRPr>
          </a:p>
        </p:txBody>
      </p:sp>
      <p:sp>
        <p:nvSpPr>
          <p:cNvPr id="45" name="Google Shape;45;p2"/>
          <p:cNvSpPr/>
          <p:nvPr/>
        </p:nvSpPr>
        <p:spPr>
          <a:xfrm>
            <a:off x="5852160" y="3451868"/>
            <a:ext cx="28347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200"/>
              <a:buFont typeface="Calibri"/>
              <a:buNone/>
            </a:pPr>
            <a:r>
              <a:rPr b="0" i="1" lang="en-US" sz="1200" u="none" cap="none" strike="noStrike">
                <a:solidFill>
                  <a:srgbClr val="E3E3E3"/>
                </a:solidFill>
                <a:latin typeface="DM Sans"/>
                <a:ea typeface="DM Sans"/>
                <a:cs typeface="DM Sans"/>
                <a:sym typeface="DM Sans"/>
              </a:rPr>
              <a:t>BBC · ABC · CBC</a:t>
            </a:r>
            <a:endParaRPr b="0" i="0" sz="1200" u="none" cap="none" strike="noStrike">
              <a:solidFill>
                <a:srgbClr val="E3E3E3"/>
              </a:solidFill>
              <a:latin typeface="DM Sans"/>
              <a:ea typeface="DM Sans"/>
              <a:cs typeface="DM Sans"/>
              <a:sym typeface="DM Sans"/>
            </a:endParaRPr>
          </a:p>
          <a:p>
            <a:pPr indent="0" lvl="0" marL="0" marR="0" rtl="0" algn="ctr">
              <a:lnSpc>
                <a:spcPct val="100000"/>
              </a:lnSpc>
              <a:spcBef>
                <a:spcPts val="0"/>
              </a:spcBef>
              <a:spcAft>
                <a:spcPts val="0"/>
              </a:spcAft>
              <a:buClr>
                <a:srgbClr val="CADCFC"/>
              </a:buClr>
              <a:buSzPts val="1200"/>
              <a:buFont typeface="Calibri"/>
              <a:buNone/>
            </a:pPr>
            <a:r>
              <a:rPr b="0" i="1" lang="en-US" sz="1200" u="none" cap="none" strike="noStrike">
                <a:solidFill>
                  <a:srgbClr val="E3E3E3"/>
                </a:solidFill>
                <a:latin typeface="DM Sans"/>
                <a:ea typeface="DM Sans"/>
                <a:cs typeface="DM Sans"/>
                <a:sym typeface="DM Sans"/>
              </a:rPr>
              <a:t>FOX · Al Jazeera · NPR</a:t>
            </a:r>
            <a:endParaRPr b="0" i="0" sz="1200" u="none" cap="none" strike="noStrike">
              <a:solidFill>
                <a:srgbClr val="E3E3E3"/>
              </a:solidFill>
              <a:latin typeface="DM Sans"/>
              <a:ea typeface="DM Sans"/>
              <a:cs typeface="DM Sans"/>
              <a:sym typeface="DM Sans"/>
            </a:endParaRPr>
          </a:p>
        </p:txBody>
      </p:sp>
      <p:sp>
        <p:nvSpPr>
          <p:cNvPr id="46" name="Google Shape;46;p2"/>
          <p:cNvSpPr/>
          <p:nvPr/>
        </p:nvSpPr>
        <p:spPr>
          <a:xfrm>
            <a:off x="457200" y="4663440"/>
            <a:ext cx="822960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100"/>
              <a:buFont typeface="Calibri"/>
              <a:buNone/>
            </a:pPr>
            <a:r>
              <a:rPr b="0" i="1" lang="en-US" sz="1100" u="none" cap="none" strike="noStrike">
                <a:solidFill>
                  <a:srgbClr val="64748B"/>
                </a:solidFill>
                <a:latin typeface="DM Sans"/>
                <a:ea typeface="DM Sans"/>
                <a:cs typeface="DM Sans"/>
                <a:sym typeface="DM Sans"/>
              </a:rPr>
              <a:t>The Distributional Hypothesis: "You shall know a word by the company it keeps."</a:t>
            </a:r>
            <a:endParaRPr b="0" i="0" sz="1100" u="none" cap="none" strike="noStrike">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3"/>
          <p:cNvSpPr/>
          <p:nvPr/>
        </p:nvSpPr>
        <p:spPr>
          <a:xfrm>
            <a:off x="0" y="0"/>
            <a:ext cx="9144000" cy="51435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53" name="Google Shape;53;p3"/>
          <p:cNvSpPr/>
          <p:nvPr/>
        </p:nvSpPr>
        <p:spPr>
          <a:xfrm>
            <a:off x="457200" y="216498"/>
            <a:ext cx="8229600" cy="59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Research Question</a:t>
            </a:r>
            <a:endParaRPr b="0" i="0" sz="2800" u="none" cap="none" strike="noStrike">
              <a:solidFill>
                <a:srgbClr val="008C8E"/>
              </a:solidFill>
              <a:latin typeface="DM Sans"/>
              <a:ea typeface="DM Sans"/>
              <a:cs typeface="DM Sans"/>
              <a:sym typeface="DM Sans"/>
            </a:endParaRPr>
          </a:p>
        </p:txBody>
      </p:sp>
      <p:sp>
        <p:nvSpPr>
          <p:cNvPr id="54" name="Google Shape;54;p3"/>
          <p:cNvSpPr/>
          <p:nvPr/>
        </p:nvSpPr>
        <p:spPr>
          <a:xfrm>
            <a:off x="457200" y="1005840"/>
            <a:ext cx="8229600" cy="366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55" name="Google Shape;55;p3"/>
          <p:cNvSpPr/>
          <p:nvPr/>
        </p:nvSpPr>
        <p:spPr>
          <a:xfrm>
            <a:off x="914400" y="1729081"/>
            <a:ext cx="7315200" cy="1463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000"/>
              <a:buFont typeface="Calibri"/>
              <a:buNone/>
            </a:pPr>
            <a:r>
              <a:rPr b="1" i="0" lang="en-US" sz="2000" u="none" cap="none" strike="noStrike">
                <a:solidFill>
                  <a:srgbClr val="FFFFFF"/>
                </a:solidFill>
                <a:latin typeface="DM Sans"/>
                <a:ea typeface="DM Sans"/>
                <a:cs typeface="DM Sans"/>
                <a:sym typeface="DM Sans"/>
              </a:rPr>
              <a:t>Can political leaning be identified at the article level from learned text representations alone, without relying on source-level labels?</a:t>
            </a:r>
            <a:endParaRPr b="0" i="0" sz="2000" u="none" cap="none" strike="noStrike">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4"/>
          <p:cNvSpPr/>
          <p:nvPr/>
        </p:nvSpPr>
        <p:spPr>
          <a:xfrm>
            <a:off x="457200" y="18288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Related Work</a:t>
            </a:r>
            <a:endParaRPr b="0" i="0" sz="2800" u="none" cap="none" strike="noStrike">
              <a:solidFill>
                <a:srgbClr val="008C8E"/>
              </a:solidFill>
              <a:latin typeface="DM Sans"/>
              <a:ea typeface="DM Sans"/>
              <a:cs typeface="DM Sans"/>
              <a:sym typeface="DM Sans"/>
            </a:endParaRPr>
          </a:p>
        </p:txBody>
      </p:sp>
      <p:sp>
        <p:nvSpPr>
          <p:cNvPr id="62" name="Google Shape;62;p4"/>
          <p:cNvSpPr/>
          <p:nvPr/>
        </p:nvSpPr>
        <p:spPr>
          <a:xfrm>
            <a:off x="457200" y="777240"/>
            <a:ext cx="82296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Calibri"/>
              <a:buNone/>
            </a:pPr>
            <a:r>
              <a:rPr b="0" i="0" lang="en-US" sz="1400" u="none" cap="none" strike="noStrike">
                <a:solidFill>
                  <a:srgbClr val="64748B"/>
                </a:solidFill>
                <a:latin typeface="DM Sans"/>
                <a:ea typeface="DM Sans"/>
                <a:cs typeface="DM Sans"/>
                <a:sym typeface="DM Sans"/>
              </a:rPr>
              <a:t>How does our approach compare?</a:t>
            </a:r>
            <a:endParaRPr b="0" i="0" sz="1400" u="none" cap="none" strike="noStrike">
              <a:solidFill>
                <a:schemeClr val="dk1"/>
              </a:solidFill>
              <a:latin typeface="DM Sans"/>
              <a:ea typeface="DM Sans"/>
              <a:cs typeface="DM Sans"/>
              <a:sym typeface="DM Sans"/>
            </a:endParaRPr>
          </a:p>
        </p:txBody>
      </p:sp>
      <p:sp>
        <p:nvSpPr>
          <p:cNvPr id="63" name="Google Shape;63;p4"/>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64" name="Google Shape;64;p4"/>
          <p:cNvSpPr/>
          <p:nvPr/>
        </p:nvSpPr>
        <p:spPr>
          <a:xfrm>
            <a:off x="457200" y="1234440"/>
            <a:ext cx="8229600" cy="1051560"/>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65" name="Google Shape;65;p4"/>
          <p:cNvSpPr/>
          <p:nvPr/>
        </p:nvSpPr>
        <p:spPr>
          <a:xfrm>
            <a:off x="548640" y="1298448"/>
            <a:ext cx="128016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000"/>
              <a:buFont typeface="Calibri"/>
              <a:buNone/>
            </a:pPr>
            <a:r>
              <a:rPr b="1" i="0" lang="en-US" sz="1000" u="none" cap="none" strike="noStrike">
                <a:solidFill>
                  <a:srgbClr val="1E2761"/>
                </a:solidFill>
                <a:latin typeface="DM Sans"/>
                <a:ea typeface="DM Sans"/>
                <a:cs typeface="DM Sans"/>
                <a:sym typeface="DM Sans"/>
              </a:rPr>
              <a:t>Source-level</a:t>
            </a:r>
            <a:endParaRPr b="0" i="0" sz="1000" u="none" cap="none" strike="noStrike">
              <a:solidFill>
                <a:srgbClr val="1E2761"/>
              </a:solidFill>
              <a:latin typeface="DM Sans"/>
              <a:ea typeface="DM Sans"/>
              <a:cs typeface="DM Sans"/>
              <a:sym typeface="DM Sans"/>
            </a:endParaRPr>
          </a:p>
        </p:txBody>
      </p:sp>
      <p:sp>
        <p:nvSpPr>
          <p:cNvPr id="66" name="Google Shape;66;p4"/>
          <p:cNvSpPr/>
          <p:nvPr/>
        </p:nvSpPr>
        <p:spPr>
          <a:xfrm>
            <a:off x="1920240" y="1280160"/>
            <a:ext cx="65836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i="0" lang="en-US" sz="1200" u="none" cap="none" strike="noStrike">
                <a:solidFill>
                  <a:srgbClr val="1E2761"/>
                </a:solidFill>
                <a:latin typeface="DM Sans"/>
                <a:ea typeface="DM Sans"/>
                <a:cs typeface="DM Sans"/>
                <a:sym typeface="DM Sans"/>
              </a:rPr>
              <a:t>Baly et al. (2018) — Predicting Factuality and Bias of News Sources</a:t>
            </a:r>
            <a:endParaRPr b="0" i="0" sz="1200" u="none" cap="none" strike="noStrike">
              <a:solidFill>
                <a:schemeClr val="dk1"/>
              </a:solidFill>
              <a:latin typeface="DM Sans"/>
              <a:ea typeface="DM Sans"/>
              <a:cs typeface="DM Sans"/>
              <a:sym typeface="DM Sans"/>
            </a:endParaRPr>
          </a:p>
        </p:txBody>
      </p:sp>
      <p:sp>
        <p:nvSpPr>
          <p:cNvPr id="67" name="Google Shape;67;p4"/>
          <p:cNvSpPr/>
          <p:nvPr/>
        </p:nvSpPr>
        <p:spPr>
          <a:xfrm>
            <a:off x="1920240" y="1618488"/>
            <a:ext cx="64922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Source-level classification using Wikipedia and Twitter data. Strong results but limited to outlet-level labels.</a:t>
            </a:r>
            <a:endParaRPr b="0" i="0" sz="1100" u="none" cap="none" strike="noStrike">
              <a:solidFill>
                <a:schemeClr val="dk1"/>
              </a:solidFill>
              <a:latin typeface="DM Sans"/>
              <a:ea typeface="DM Sans"/>
              <a:cs typeface="DM Sans"/>
              <a:sym typeface="DM Sans"/>
            </a:endParaRPr>
          </a:p>
        </p:txBody>
      </p:sp>
      <p:sp>
        <p:nvSpPr>
          <p:cNvPr id="68" name="Google Shape;68;p4"/>
          <p:cNvSpPr/>
          <p:nvPr/>
        </p:nvSpPr>
        <p:spPr>
          <a:xfrm>
            <a:off x="457200" y="2423160"/>
            <a:ext cx="8229600" cy="1051560"/>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69" name="Google Shape;69;p4"/>
          <p:cNvSpPr/>
          <p:nvPr/>
        </p:nvSpPr>
        <p:spPr>
          <a:xfrm>
            <a:off x="548640" y="2487168"/>
            <a:ext cx="128016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1000"/>
              <a:buFont typeface="Calibri"/>
              <a:buNone/>
            </a:pPr>
            <a:r>
              <a:rPr b="1" i="0" lang="en-US" sz="1000" u="none" cap="none" strike="noStrike">
                <a:solidFill>
                  <a:srgbClr val="1E2761"/>
                </a:solidFill>
                <a:latin typeface="DM Sans"/>
                <a:ea typeface="DM Sans"/>
                <a:cs typeface="DM Sans"/>
                <a:sym typeface="DM Sans"/>
              </a:rPr>
              <a:t>BERT-based</a:t>
            </a:r>
            <a:endParaRPr b="0" i="0" sz="1000" u="none" cap="none" strike="noStrike">
              <a:solidFill>
                <a:srgbClr val="1E2761"/>
              </a:solidFill>
              <a:latin typeface="DM Sans"/>
              <a:ea typeface="DM Sans"/>
              <a:cs typeface="DM Sans"/>
              <a:sym typeface="DM Sans"/>
            </a:endParaRPr>
          </a:p>
        </p:txBody>
      </p:sp>
      <p:sp>
        <p:nvSpPr>
          <p:cNvPr id="70" name="Google Shape;70;p4"/>
          <p:cNvSpPr/>
          <p:nvPr/>
        </p:nvSpPr>
        <p:spPr>
          <a:xfrm>
            <a:off x="1920240" y="2468880"/>
            <a:ext cx="65836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i="0" lang="en-US" sz="1200" u="none" cap="none" strike="noStrike">
                <a:solidFill>
                  <a:srgbClr val="1E2761"/>
                </a:solidFill>
                <a:latin typeface="DM Sans"/>
                <a:ea typeface="DM Sans"/>
                <a:cs typeface="DM Sans"/>
                <a:sym typeface="DM Sans"/>
              </a:rPr>
              <a:t>Loiya et al. (2026) — ChunkyBERT: Multiclass Political Bias Detection</a:t>
            </a:r>
            <a:endParaRPr b="0" i="0" sz="1200" u="none" cap="none" strike="noStrike">
              <a:solidFill>
                <a:schemeClr val="dk1"/>
              </a:solidFill>
              <a:latin typeface="DM Sans"/>
              <a:ea typeface="DM Sans"/>
              <a:cs typeface="DM Sans"/>
              <a:sym typeface="DM Sans"/>
            </a:endParaRPr>
          </a:p>
        </p:txBody>
      </p:sp>
      <p:sp>
        <p:nvSpPr>
          <p:cNvPr id="71" name="Google Shape;71;p4"/>
          <p:cNvSpPr/>
          <p:nvPr/>
        </p:nvSpPr>
        <p:spPr>
          <a:xfrm>
            <a:off x="1920240" y="2807208"/>
            <a:ext cx="64922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BERT-based chunking approach for long-form political text. Higher accuracy but far more compute-intensive.</a:t>
            </a:r>
            <a:endParaRPr b="0" i="0" sz="1100" u="none" cap="none" strike="noStrike">
              <a:solidFill>
                <a:schemeClr val="dk1"/>
              </a:solidFill>
              <a:latin typeface="DM Sans"/>
              <a:ea typeface="DM Sans"/>
              <a:cs typeface="DM Sans"/>
              <a:sym typeface="DM Sans"/>
            </a:endParaRPr>
          </a:p>
        </p:txBody>
      </p:sp>
      <p:sp>
        <p:nvSpPr>
          <p:cNvPr id="72" name="Google Shape;72;p4"/>
          <p:cNvSpPr/>
          <p:nvPr/>
        </p:nvSpPr>
        <p:spPr>
          <a:xfrm>
            <a:off x="457200" y="3611880"/>
            <a:ext cx="8229600" cy="105156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73" name="Google Shape;73;p4"/>
          <p:cNvSpPr/>
          <p:nvPr/>
        </p:nvSpPr>
        <p:spPr>
          <a:xfrm>
            <a:off x="548640" y="3675888"/>
            <a:ext cx="128016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000"/>
              <a:buFont typeface="Calibri"/>
              <a:buNone/>
            </a:pPr>
            <a:r>
              <a:rPr b="1" i="0" lang="en-US" sz="1000" u="none" cap="none" strike="noStrike">
                <a:solidFill>
                  <a:srgbClr val="E3E3E3"/>
                </a:solidFill>
                <a:latin typeface="DM Sans"/>
                <a:ea typeface="DM Sans"/>
                <a:cs typeface="DM Sans"/>
                <a:sym typeface="DM Sans"/>
              </a:rPr>
              <a:t>Our approach</a:t>
            </a:r>
            <a:endParaRPr b="0" i="0" sz="1000" u="none" cap="none" strike="noStrike">
              <a:solidFill>
                <a:srgbClr val="E3E3E3"/>
              </a:solidFill>
              <a:latin typeface="DM Sans"/>
              <a:ea typeface="DM Sans"/>
              <a:cs typeface="DM Sans"/>
              <a:sym typeface="DM Sans"/>
            </a:endParaRPr>
          </a:p>
        </p:txBody>
      </p:sp>
      <p:sp>
        <p:nvSpPr>
          <p:cNvPr id="74" name="Google Shape;74;p4"/>
          <p:cNvSpPr/>
          <p:nvPr/>
        </p:nvSpPr>
        <p:spPr>
          <a:xfrm>
            <a:off x="1920240" y="3657600"/>
            <a:ext cx="65836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Calibri"/>
              <a:buNone/>
            </a:pPr>
            <a:r>
              <a:rPr b="1" i="0" lang="en-US" sz="1200" u="none" cap="none" strike="noStrike">
                <a:solidFill>
                  <a:srgbClr val="FFFFFF"/>
                </a:solidFill>
                <a:latin typeface="DM Sans"/>
                <a:ea typeface="DM Sans"/>
                <a:cs typeface="DM Sans"/>
                <a:sym typeface="DM Sans"/>
              </a:rPr>
              <a:t>Ours (2026) — Bidirectional LSTM, Article-Bias-Prediction Dataset</a:t>
            </a:r>
            <a:endParaRPr b="0" i="0" sz="1200" u="none" cap="none" strike="noStrike">
              <a:solidFill>
                <a:schemeClr val="dk1"/>
              </a:solidFill>
              <a:latin typeface="DM Sans"/>
              <a:ea typeface="DM Sans"/>
              <a:cs typeface="DM Sans"/>
              <a:sym typeface="DM Sans"/>
            </a:endParaRPr>
          </a:p>
        </p:txBody>
      </p:sp>
      <p:sp>
        <p:nvSpPr>
          <p:cNvPr id="75" name="Google Shape;75;p4"/>
          <p:cNvSpPr/>
          <p:nvPr/>
        </p:nvSpPr>
        <p:spPr>
          <a:xfrm>
            <a:off x="1920240" y="3995928"/>
            <a:ext cx="649224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ADCFC"/>
              </a:buClr>
              <a:buSzPts val="1100"/>
              <a:buFont typeface="Calibri"/>
              <a:buNone/>
            </a:pPr>
            <a:r>
              <a:rPr b="0" i="0" lang="en-US" sz="1100" u="none" cap="none" strike="noStrike">
                <a:solidFill>
                  <a:srgbClr val="E3E3E3"/>
                </a:solidFill>
                <a:latin typeface="DM Sans"/>
                <a:ea typeface="DM Sans"/>
                <a:cs typeface="DM Sans"/>
                <a:sym typeface="DM Sans"/>
              </a:rPr>
              <a:t>Article-level classification using learned embeddings. 61.4% accuracy — competitive baseline with room to grow.</a:t>
            </a:r>
            <a:endParaRPr b="0" i="0" sz="1100" u="none" cap="none" strike="noStrike">
              <a:solidFill>
                <a:srgbClr val="E3E3E3"/>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5"/>
          <p:cNvSpPr/>
          <p:nvPr/>
        </p:nvSpPr>
        <p:spPr>
          <a:xfrm>
            <a:off x="457200" y="18288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Dataset</a:t>
            </a:r>
            <a:endParaRPr b="0" i="0" sz="2800" u="none" cap="none" strike="noStrike">
              <a:solidFill>
                <a:srgbClr val="008C8E"/>
              </a:solidFill>
              <a:latin typeface="DM Sans"/>
              <a:ea typeface="DM Sans"/>
              <a:cs typeface="DM Sans"/>
              <a:sym typeface="DM Sans"/>
            </a:endParaRPr>
          </a:p>
        </p:txBody>
      </p:sp>
      <p:sp>
        <p:nvSpPr>
          <p:cNvPr id="82" name="Google Shape;82;p5"/>
          <p:cNvSpPr/>
          <p:nvPr/>
        </p:nvSpPr>
        <p:spPr>
          <a:xfrm>
            <a:off x="457200" y="777240"/>
            <a:ext cx="82296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Calibri"/>
              <a:buNone/>
            </a:pPr>
            <a:r>
              <a:rPr b="0" i="0" lang="en-US" sz="1400" u="none" cap="none" strike="noStrike">
                <a:solidFill>
                  <a:srgbClr val="64748B"/>
                </a:solidFill>
                <a:latin typeface="DM Sans"/>
                <a:ea typeface="DM Sans"/>
                <a:cs typeface="DM Sans"/>
                <a:sym typeface="DM Sans"/>
              </a:rPr>
              <a:t>Article-Bias-Prediction (EMNLP 2020)</a:t>
            </a:r>
            <a:endParaRPr b="0" i="0" sz="1400" u="none" cap="none" strike="noStrike">
              <a:solidFill>
                <a:schemeClr val="dk1"/>
              </a:solidFill>
              <a:latin typeface="DM Sans"/>
              <a:ea typeface="DM Sans"/>
              <a:cs typeface="DM Sans"/>
              <a:sym typeface="DM Sans"/>
            </a:endParaRPr>
          </a:p>
        </p:txBody>
      </p:sp>
      <p:sp>
        <p:nvSpPr>
          <p:cNvPr id="83" name="Google Shape;83;p5"/>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84" name="Google Shape;84;p5"/>
          <p:cNvSpPr/>
          <p:nvPr/>
        </p:nvSpPr>
        <p:spPr>
          <a:xfrm>
            <a:off x="457200" y="1188725"/>
            <a:ext cx="1828800" cy="10059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85" name="Google Shape;85;p5"/>
          <p:cNvSpPr/>
          <p:nvPr/>
        </p:nvSpPr>
        <p:spPr>
          <a:xfrm>
            <a:off x="365760" y="1234440"/>
            <a:ext cx="19202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Calibri"/>
              <a:buNone/>
            </a:pPr>
            <a:r>
              <a:rPr b="1" i="0" lang="en-US" sz="3000" u="none" cap="none" strike="noStrike">
                <a:solidFill>
                  <a:srgbClr val="FFFFFF"/>
                </a:solidFill>
                <a:latin typeface="DM Sans"/>
                <a:ea typeface="DM Sans"/>
                <a:cs typeface="DM Sans"/>
                <a:sym typeface="DM Sans"/>
              </a:rPr>
              <a:t>37,554</a:t>
            </a:r>
            <a:endParaRPr b="0" i="0" sz="3000" u="none" cap="none" strike="noStrike">
              <a:solidFill>
                <a:schemeClr val="dk1"/>
              </a:solidFill>
              <a:latin typeface="DM Sans"/>
              <a:ea typeface="DM Sans"/>
              <a:cs typeface="DM Sans"/>
              <a:sym typeface="DM Sans"/>
            </a:endParaRPr>
          </a:p>
        </p:txBody>
      </p:sp>
      <p:sp>
        <p:nvSpPr>
          <p:cNvPr id="86" name="Google Shape;86;p5"/>
          <p:cNvSpPr/>
          <p:nvPr/>
        </p:nvSpPr>
        <p:spPr>
          <a:xfrm>
            <a:off x="365760" y="1783080"/>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F4F4F4"/>
                </a:solidFill>
                <a:latin typeface="DM Sans"/>
                <a:ea typeface="DM Sans"/>
                <a:cs typeface="DM Sans"/>
                <a:sym typeface="DM Sans"/>
              </a:rPr>
              <a:t>Total Articles</a:t>
            </a:r>
            <a:endParaRPr b="0" i="0" sz="1100" u="none" cap="none" strike="noStrike">
              <a:solidFill>
                <a:srgbClr val="F4F4F4"/>
              </a:solidFill>
              <a:latin typeface="DM Sans"/>
              <a:ea typeface="DM Sans"/>
              <a:cs typeface="DM Sans"/>
              <a:sym typeface="DM Sans"/>
            </a:endParaRPr>
          </a:p>
        </p:txBody>
      </p:sp>
      <p:sp>
        <p:nvSpPr>
          <p:cNvPr id="87" name="Google Shape;87;p5"/>
          <p:cNvSpPr/>
          <p:nvPr/>
        </p:nvSpPr>
        <p:spPr>
          <a:xfrm>
            <a:off x="2514600" y="1188720"/>
            <a:ext cx="1920240" cy="100584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88" name="Google Shape;88;p5"/>
          <p:cNvSpPr/>
          <p:nvPr/>
        </p:nvSpPr>
        <p:spPr>
          <a:xfrm>
            <a:off x="2514600" y="1234440"/>
            <a:ext cx="19202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Calibri"/>
              <a:buNone/>
            </a:pPr>
            <a:r>
              <a:rPr b="1" i="0" lang="en-US" sz="3000" u="none" cap="none" strike="noStrike">
                <a:solidFill>
                  <a:srgbClr val="FFFFFF"/>
                </a:solidFill>
                <a:latin typeface="DM Sans"/>
                <a:ea typeface="DM Sans"/>
                <a:cs typeface="DM Sans"/>
                <a:sym typeface="DM Sans"/>
              </a:rPr>
              <a:t>12</a:t>
            </a:r>
            <a:endParaRPr b="0" i="0" sz="3000" u="none" cap="none" strike="noStrike">
              <a:solidFill>
                <a:schemeClr val="dk1"/>
              </a:solidFill>
              <a:latin typeface="DM Sans"/>
              <a:ea typeface="DM Sans"/>
              <a:cs typeface="DM Sans"/>
              <a:sym typeface="DM Sans"/>
            </a:endParaRPr>
          </a:p>
        </p:txBody>
      </p:sp>
      <p:sp>
        <p:nvSpPr>
          <p:cNvPr id="89" name="Google Shape;89;p5"/>
          <p:cNvSpPr/>
          <p:nvPr/>
        </p:nvSpPr>
        <p:spPr>
          <a:xfrm>
            <a:off x="2514600" y="1783080"/>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F4F4F4"/>
                </a:solidFill>
                <a:latin typeface="DM Sans"/>
                <a:ea typeface="DM Sans"/>
                <a:cs typeface="DM Sans"/>
                <a:sym typeface="DM Sans"/>
              </a:rPr>
              <a:t>Columns</a:t>
            </a:r>
            <a:endParaRPr b="0" i="0" sz="1100" u="none" cap="none" strike="noStrike">
              <a:solidFill>
                <a:srgbClr val="F4F4F4"/>
              </a:solidFill>
              <a:latin typeface="DM Sans"/>
              <a:ea typeface="DM Sans"/>
              <a:cs typeface="DM Sans"/>
              <a:sym typeface="DM Sans"/>
            </a:endParaRPr>
          </a:p>
        </p:txBody>
      </p:sp>
      <p:sp>
        <p:nvSpPr>
          <p:cNvPr id="90" name="Google Shape;90;p5"/>
          <p:cNvSpPr/>
          <p:nvPr/>
        </p:nvSpPr>
        <p:spPr>
          <a:xfrm>
            <a:off x="4663440" y="1188720"/>
            <a:ext cx="1920240" cy="100584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91" name="Google Shape;91;p5"/>
          <p:cNvSpPr/>
          <p:nvPr/>
        </p:nvSpPr>
        <p:spPr>
          <a:xfrm>
            <a:off x="4663440" y="1234440"/>
            <a:ext cx="19202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Calibri"/>
              <a:buNone/>
            </a:pPr>
            <a:r>
              <a:rPr b="1" i="0" lang="en-US" sz="3000" u="none" cap="none" strike="noStrike">
                <a:solidFill>
                  <a:srgbClr val="FFFFFF"/>
                </a:solidFill>
                <a:latin typeface="DM Sans"/>
                <a:ea typeface="DM Sans"/>
                <a:cs typeface="DM Sans"/>
                <a:sym typeface="DM Sans"/>
              </a:rPr>
              <a:t>0</a:t>
            </a:r>
            <a:endParaRPr b="0" i="0" sz="3000" u="none" cap="none" strike="noStrike">
              <a:solidFill>
                <a:schemeClr val="dk1"/>
              </a:solidFill>
              <a:latin typeface="DM Sans"/>
              <a:ea typeface="DM Sans"/>
              <a:cs typeface="DM Sans"/>
              <a:sym typeface="DM Sans"/>
            </a:endParaRPr>
          </a:p>
        </p:txBody>
      </p:sp>
      <p:sp>
        <p:nvSpPr>
          <p:cNvPr id="92" name="Google Shape;92;p5"/>
          <p:cNvSpPr/>
          <p:nvPr/>
        </p:nvSpPr>
        <p:spPr>
          <a:xfrm>
            <a:off x="4663440" y="1783080"/>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F4F4F4"/>
                </a:solidFill>
                <a:latin typeface="DM Sans"/>
                <a:ea typeface="DM Sans"/>
                <a:cs typeface="DM Sans"/>
                <a:sym typeface="DM Sans"/>
              </a:rPr>
              <a:t>Missing Values</a:t>
            </a:r>
            <a:endParaRPr b="0" i="0" sz="1100" u="none" cap="none" strike="noStrike">
              <a:solidFill>
                <a:srgbClr val="F4F4F4"/>
              </a:solidFill>
              <a:latin typeface="DM Sans"/>
              <a:ea typeface="DM Sans"/>
              <a:cs typeface="DM Sans"/>
              <a:sym typeface="DM Sans"/>
            </a:endParaRPr>
          </a:p>
        </p:txBody>
      </p:sp>
      <p:sp>
        <p:nvSpPr>
          <p:cNvPr id="93" name="Google Shape;93;p5"/>
          <p:cNvSpPr/>
          <p:nvPr/>
        </p:nvSpPr>
        <p:spPr>
          <a:xfrm>
            <a:off x="6812275" y="1188725"/>
            <a:ext cx="1874400" cy="10059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94" name="Google Shape;94;p5"/>
          <p:cNvSpPr/>
          <p:nvPr/>
        </p:nvSpPr>
        <p:spPr>
          <a:xfrm>
            <a:off x="6812280" y="1234440"/>
            <a:ext cx="1920240" cy="5943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000"/>
              <a:buFont typeface="Calibri"/>
              <a:buNone/>
            </a:pPr>
            <a:r>
              <a:rPr b="1" i="0" lang="en-US" sz="3000" u="none" cap="none" strike="noStrike">
                <a:solidFill>
                  <a:srgbClr val="FFFFFF"/>
                </a:solidFill>
                <a:latin typeface="DM Sans"/>
                <a:ea typeface="DM Sans"/>
                <a:cs typeface="DM Sans"/>
                <a:sym typeface="DM Sans"/>
              </a:rPr>
              <a:t>1,084</a:t>
            </a:r>
            <a:endParaRPr b="0" i="0" sz="3000" u="none" cap="none" strike="noStrike">
              <a:solidFill>
                <a:schemeClr val="dk1"/>
              </a:solidFill>
              <a:latin typeface="DM Sans"/>
              <a:ea typeface="DM Sans"/>
              <a:cs typeface="DM Sans"/>
              <a:sym typeface="DM Sans"/>
            </a:endParaRPr>
          </a:p>
        </p:txBody>
      </p:sp>
      <p:sp>
        <p:nvSpPr>
          <p:cNvPr id="95" name="Google Shape;95;p5"/>
          <p:cNvSpPr/>
          <p:nvPr/>
        </p:nvSpPr>
        <p:spPr>
          <a:xfrm>
            <a:off x="6812280" y="1783080"/>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F4F4F4"/>
                </a:solidFill>
                <a:latin typeface="DM Sans"/>
                <a:ea typeface="DM Sans"/>
                <a:cs typeface="DM Sans"/>
                <a:sym typeface="DM Sans"/>
              </a:rPr>
              <a:t>Avg. Word Count</a:t>
            </a:r>
            <a:endParaRPr b="0" i="0" sz="1100" u="none" cap="none" strike="noStrike">
              <a:solidFill>
                <a:srgbClr val="F4F4F4"/>
              </a:solidFill>
              <a:latin typeface="DM Sans"/>
              <a:ea typeface="DM Sans"/>
              <a:cs typeface="DM Sans"/>
              <a:sym typeface="DM Sans"/>
            </a:endParaRPr>
          </a:p>
        </p:txBody>
      </p:sp>
      <p:sp>
        <p:nvSpPr>
          <p:cNvPr id="96" name="Google Shape;96;p5"/>
          <p:cNvSpPr/>
          <p:nvPr/>
        </p:nvSpPr>
        <p:spPr>
          <a:xfrm>
            <a:off x="4754880" y="2377440"/>
            <a:ext cx="39319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Calibri"/>
              <a:buNone/>
            </a:pPr>
            <a:r>
              <a:rPr b="1" i="0" lang="en-US" sz="1400" u="none" cap="none" strike="noStrike">
                <a:solidFill>
                  <a:srgbClr val="1E2761"/>
                </a:solidFill>
                <a:latin typeface="DM Sans"/>
                <a:ea typeface="DM Sans"/>
                <a:cs typeface="DM Sans"/>
                <a:sym typeface="DM Sans"/>
              </a:rPr>
              <a:t>Class Distribution</a:t>
            </a:r>
            <a:endParaRPr b="0" i="0" sz="1400" u="none" cap="none" strike="noStrike">
              <a:solidFill>
                <a:schemeClr val="dk1"/>
              </a:solidFill>
              <a:latin typeface="DM Sans"/>
              <a:ea typeface="DM Sans"/>
              <a:cs typeface="DM Sans"/>
              <a:sym typeface="DM Sans"/>
            </a:endParaRPr>
          </a:p>
        </p:txBody>
      </p:sp>
      <p:sp>
        <p:nvSpPr>
          <p:cNvPr id="97" name="Google Shape;97;p5"/>
          <p:cNvSpPr/>
          <p:nvPr/>
        </p:nvSpPr>
        <p:spPr>
          <a:xfrm>
            <a:off x="4754880" y="2834640"/>
            <a:ext cx="201168" cy="347472"/>
          </a:xfrm>
          <a:prstGeom prst="rect">
            <a:avLst/>
          </a:prstGeom>
          <a:solidFill>
            <a:srgbClr val="DC2626"/>
          </a:solidFill>
          <a:ln cap="flat" cmpd="sng" w="12700">
            <a:solidFill>
              <a:srgbClr val="DC262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98" name="Google Shape;98;p5"/>
          <p:cNvSpPr/>
          <p:nvPr/>
        </p:nvSpPr>
        <p:spPr>
          <a:xfrm>
            <a:off x="5074920" y="2834640"/>
            <a:ext cx="347472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400"/>
              <a:buFont typeface="Calibri"/>
              <a:buNone/>
            </a:pPr>
            <a:r>
              <a:rPr b="0" i="0" lang="en-US" sz="1400" u="none" cap="none" strike="noStrike">
                <a:solidFill>
                  <a:srgbClr val="1E293B"/>
                </a:solidFill>
                <a:latin typeface="DM Sans"/>
                <a:ea typeface="DM Sans"/>
                <a:cs typeface="DM Sans"/>
                <a:sym typeface="DM Sans"/>
              </a:rPr>
              <a:t>Right  36.6%</a:t>
            </a:r>
            <a:endParaRPr b="0" i="0" sz="1400" u="none" cap="none" strike="noStrike">
              <a:solidFill>
                <a:schemeClr val="dk1"/>
              </a:solidFill>
              <a:latin typeface="DM Sans"/>
              <a:ea typeface="DM Sans"/>
              <a:cs typeface="DM Sans"/>
              <a:sym typeface="DM Sans"/>
            </a:endParaRPr>
          </a:p>
        </p:txBody>
      </p:sp>
      <p:sp>
        <p:nvSpPr>
          <p:cNvPr id="99" name="Google Shape;99;p5"/>
          <p:cNvSpPr/>
          <p:nvPr/>
        </p:nvSpPr>
        <p:spPr>
          <a:xfrm>
            <a:off x="4754880" y="3456432"/>
            <a:ext cx="201168" cy="347472"/>
          </a:xfrm>
          <a:prstGeom prst="rect">
            <a:avLst/>
          </a:prstGeom>
          <a:solidFill>
            <a:srgbClr val="1D4ED8"/>
          </a:solidFill>
          <a:ln cap="flat" cmpd="sng" w="12700">
            <a:solidFill>
              <a:srgbClr val="1D4ED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00" name="Google Shape;100;p5"/>
          <p:cNvSpPr/>
          <p:nvPr/>
        </p:nvSpPr>
        <p:spPr>
          <a:xfrm>
            <a:off x="5074920" y="3456432"/>
            <a:ext cx="347472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400"/>
              <a:buFont typeface="Calibri"/>
              <a:buNone/>
            </a:pPr>
            <a:r>
              <a:rPr b="0" i="0" lang="en-US" sz="1400" u="none" cap="none" strike="noStrike">
                <a:solidFill>
                  <a:srgbClr val="1E293B"/>
                </a:solidFill>
                <a:latin typeface="DM Sans"/>
                <a:ea typeface="DM Sans"/>
                <a:cs typeface="DM Sans"/>
                <a:sym typeface="DM Sans"/>
              </a:rPr>
              <a:t>Left  34.6%</a:t>
            </a:r>
            <a:endParaRPr b="0" i="0" sz="1400" u="none" cap="none" strike="noStrike">
              <a:solidFill>
                <a:schemeClr val="dk1"/>
              </a:solidFill>
              <a:latin typeface="DM Sans"/>
              <a:ea typeface="DM Sans"/>
              <a:cs typeface="DM Sans"/>
              <a:sym typeface="DM Sans"/>
            </a:endParaRPr>
          </a:p>
        </p:txBody>
      </p:sp>
      <p:sp>
        <p:nvSpPr>
          <p:cNvPr id="101" name="Google Shape;101;p5"/>
          <p:cNvSpPr/>
          <p:nvPr/>
        </p:nvSpPr>
        <p:spPr>
          <a:xfrm>
            <a:off x="4754880" y="4078224"/>
            <a:ext cx="201168" cy="347472"/>
          </a:xfrm>
          <a:prstGeom prst="rect">
            <a:avLst/>
          </a:prstGeom>
          <a:solidFill>
            <a:srgbClr val="15803D"/>
          </a:solidFill>
          <a:ln cap="flat" cmpd="sng" w="12700">
            <a:solidFill>
              <a:srgbClr val="1580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02" name="Google Shape;102;p5"/>
          <p:cNvSpPr/>
          <p:nvPr/>
        </p:nvSpPr>
        <p:spPr>
          <a:xfrm>
            <a:off x="5074920" y="4078224"/>
            <a:ext cx="347472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400"/>
              <a:buFont typeface="Calibri"/>
              <a:buNone/>
            </a:pPr>
            <a:r>
              <a:rPr b="0" i="0" lang="en-US" sz="1400" u="none" cap="none" strike="noStrike">
                <a:solidFill>
                  <a:srgbClr val="1E293B"/>
                </a:solidFill>
                <a:latin typeface="DM Sans"/>
                <a:ea typeface="DM Sans"/>
                <a:cs typeface="DM Sans"/>
                <a:sym typeface="DM Sans"/>
              </a:rPr>
              <a:t>Center  28.8%</a:t>
            </a:r>
            <a:endParaRPr b="0" i="0" sz="1400" u="none" cap="none" strike="noStrike">
              <a:solidFill>
                <a:schemeClr val="dk1"/>
              </a:solidFill>
              <a:latin typeface="DM Sans"/>
              <a:ea typeface="DM Sans"/>
              <a:cs typeface="DM Sans"/>
              <a:sym typeface="DM Sans"/>
            </a:endParaRPr>
          </a:p>
        </p:txBody>
      </p:sp>
      <p:pic>
        <p:nvPicPr>
          <p:cNvPr id="103" name="Google Shape;103;p5"/>
          <p:cNvPicPr preferRelativeResize="0"/>
          <p:nvPr/>
        </p:nvPicPr>
        <p:blipFill rotWithShape="1">
          <a:blip r:embed="rId3">
            <a:alphaModFix/>
          </a:blip>
          <a:srcRect b="0" l="0" r="0" t="0"/>
          <a:stretch/>
        </p:blipFill>
        <p:spPr>
          <a:xfrm>
            <a:off x="373214" y="2315705"/>
            <a:ext cx="4114800" cy="271075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6"/>
          <p:cNvSpPr/>
          <p:nvPr/>
        </p:nvSpPr>
        <p:spPr>
          <a:xfrm>
            <a:off x="457200" y="18288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Baseline Approach</a:t>
            </a:r>
            <a:endParaRPr b="0" i="0" sz="2800" u="none" cap="none" strike="noStrike">
              <a:solidFill>
                <a:srgbClr val="008C8E"/>
              </a:solidFill>
              <a:latin typeface="DM Sans"/>
              <a:ea typeface="DM Sans"/>
              <a:cs typeface="DM Sans"/>
              <a:sym typeface="DM Sans"/>
            </a:endParaRPr>
          </a:p>
        </p:txBody>
      </p:sp>
      <p:sp>
        <p:nvSpPr>
          <p:cNvPr id="110" name="Google Shape;110;p6"/>
          <p:cNvSpPr/>
          <p:nvPr/>
        </p:nvSpPr>
        <p:spPr>
          <a:xfrm>
            <a:off x="457200" y="777246"/>
            <a:ext cx="82296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Calibri"/>
              <a:buNone/>
            </a:pPr>
            <a:r>
              <a:rPr b="0" i="0" lang="en-US" sz="1400" u="none" cap="none" strike="noStrike">
                <a:solidFill>
                  <a:srgbClr val="6C6C6C"/>
                </a:solidFill>
                <a:latin typeface="DM Sans"/>
                <a:ea typeface="DM Sans"/>
                <a:cs typeface="DM Sans"/>
                <a:sym typeface="DM Sans"/>
              </a:rPr>
              <a:t>Bidirectional LSTM Pipeline</a:t>
            </a:r>
            <a:endParaRPr b="0" i="0" sz="1400" u="none" cap="none" strike="noStrike">
              <a:solidFill>
                <a:srgbClr val="6C6C6C"/>
              </a:solidFill>
              <a:latin typeface="DM Sans"/>
              <a:ea typeface="DM Sans"/>
              <a:cs typeface="DM Sans"/>
              <a:sym typeface="DM Sans"/>
            </a:endParaRPr>
          </a:p>
        </p:txBody>
      </p:sp>
      <p:sp>
        <p:nvSpPr>
          <p:cNvPr id="111" name="Google Shape;111;p6"/>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12" name="Google Shape;112;p6"/>
          <p:cNvSpPr/>
          <p:nvPr/>
        </p:nvSpPr>
        <p:spPr>
          <a:xfrm>
            <a:off x="457668" y="1280160"/>
            <a:ext cx="1463100" cy="548700"/>
          </a:xfrm>
          <a:prstGeom prst="rect">
            <a:avLst/>
          </a:prstGeom>
          <a:solidFill>
            <a:srgbClr val="2563EB"/>
          </a:solidFill>
          <a:ln cap="flat" cmpd="sng" w="12700">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13" name="Google Shape;113;p6"/>
          <p:cNvSpPr/>
          <p:nvPr/>
        </p:nvSpPr>
        <p:spPr>
          <a:xfrm>
            <a:off x="457668" y="1280160"/>
            <a:ext cx="1463100" cy="548700"/>
          </a:xfrm>
          <a:prstGeom prst="rect">
            <a:avLst/>
          </a:prstGeom>
          <a:solidFill>
            <a:srgbClr val="008C8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DM Sans"/>
                <a:ea typeface="DM Sans"/>
                <a:cs typeface="DM Sans"/>
                <a:sym typeface="DM Sans"/>
              </a:rPr>
              <a:t>1. Preprocess</a:t>
            </a:r>
            <a:endParaRPr b="0" i="0" sz="1300" u="none" cap="none" strike="noStrike">
              <a:solidFill>
                <a:schemeClr val="dk1"/>
              </a:solidFill>
              <a:latin typeface="DM Sans"/>
              <a:ea typeface="DM Sans"/>
              <a:cs typeface="DM Sans"/>
              <a:sym typeface="DM Sans"/>
            </a:endParaRPr>
          </a:p>
        </p:txBody>
      </p:sp>
      <p:sp>
        <p:nvSpPr>
          <p:cNvPr id="114" name="Google Shape;114;p6"/>
          <p:cNvSpPr/>
          <p:nvPr/>
        </p:nvSpPr>
        <p:spPr>
          <a:xfrm>
            <a:off x="1920708" y="1490472"/>
            <a:ext cx="228600" cy="128100"/>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15" name="Google Shape;115;p6"/>
          <p:cNvSpPr/>
          <p:nvPr/>
        </p:nvSpPr>
        <p:spPr>
          <a:xfrm>
            <a:off x="457668" y="1920240"/>
            <a:ext cx="14631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Lowercase, strip URLs,</a:t>
            </a:r>
            <a:endParaRPr b="0" i="0" sz="1000" u="none" cap="none" strike="noStrike">
              <a:solidFill>
                <a:schemeClr val="dk1"/>
              </a:solidFill>
              <a:latin typeface="DM Sans"/>
              <a:ea typeface="DM Sans"/>
              <a:cs typeface="DM Sans"/>
              <a:sym typeface="DM Sans"/>
            </a:endParaRPr>
          </a:p>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special chars, digits</a:t>
            </a:r>
            <a:endParaRPr b="0" i="0" sz="1000" u="none" cap="none" strike="noStrike">
              <a:solidFill>
                <a:schemeClr val="dk1"/>
              </a:solidFill>
              <a:latin typeface="DM Sans"/>
              <a:ea typeface="DM Sans"/>
              <a:cs typeface="DM Sans"/>
              <a:sym typeface="DM Sans"/>
            </a:endParaRPr>
          </a:p>
        </p:txBody>
      </p:sp>
      <p:sp>
        <p:nvSpPr>
          <p:cNvPr id="116" name="Google Shape;116;p6"/>
          <p:cNvSpPr/>
          <p:nvPr/>
        </p:nvSpPr>
        <p:spPr>
          <a:xfrm>
            <a:off x="2149308" y="1280160"/>
            <a:ext cx="1463100" cy="548700"/>
          </a:xfrm>
          <a:prstGeom prst="rect">
            <a:avLst/>
          </a:prstGeom>
          <a:solidFill>
            <a:srgbClr val="2563EB"/>
          </a:solidFill>
          <a:ln cap="flat" cmpd="sng" w="12700">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17" name="Google Shape;117;p6"/>
          <p:cNvSpPr/>
          <p:nvPr/>
        </p:nvSpPr>
        <p:spPr>
          <a:xfrm>
            <a:off x="2149308" y="1280160"/>
            <a:ext cx="1463100" cy="548700"/>
          </a:xfrm>
          <a:prstGeom prst="rect">
            <a:avLst/>
          </a:prstGeom>
          <a:solidFill>
            <a:srgbClr val="008C8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DM Sans"/>
                <a:ea typeface="DM Sans"/>
                <a:cs typeface="DM Sans"/>
                <a:sym typeface="DM Sans"/>
              </a:rPr>
              <a:t>2. Tokenize</a:t>
            </a:r>
            <a:endParaRPr b="0" i="0" sz="1300" u="none" cap="none" strike="noStrike">
              <a:solidFill>
                <a:schemeClr val="dk1"/>
              </a:solidFill>
              <a:latin typeface="DM Sans"/>
              <a:ea typeface="DM Sans"/>
              <a:cs typeface="DM Sans"/>
              <a:sym typeface="DM Sans"/>
            </a:endParaRPr>
          </a:p>
        </p:txBody>
      </p:sp>
      <p:sp>
        <p:nvSpPr>
          <p:cNvPr id="118" name="Google Shape;118;p6"/>
          <p:cNvSpPr/>
          <p:nvPr/>
        </p:nvSpPr>
        <p:spPr>
          <a:xfrm>
            <a:off x="3612348" y="1490472"/>
            <a:ext cx="228600" cy="128100"/>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19" name="Google Shape;119;p6"/>
          <p:cNvSpPr/>
          <p:nvPr/>
        </p:nvSpPr>
        <p:spPr>
          <a:xfrm>
            <a:off x="2149308" y="1920240"/>
            <a:ext cx="14631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Top 5,000 tokens</a:t>
            </a:r>
            <a:endParaRPr b="0" i="0" sz="1000" u="none" cap="none" strike="noStrike">
              <a:solidFill>
                <a:schemeClr val="dk1"/>
              </a:solidFill>
              <a:latin typeface="DM Sans"/>
              <a:ea typeface="DM Sans"/>
              <a:cs typeface="DM Sans"/>
              <a:sym typeface="DM Sans"/>
            </a:endParaRPr>
          </a:p>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Max 500 tokens/article</a:t>
            </a:r>
            <a:endParaRPr b="0" i="0" sz="1000" u="none" cap="none" strike="noStrike">
              <a:solidFill>
                <a:schemeClr val="dk1"/>
              </a:solidFill>
              <a:latin typeface="DM Sans"/>
              <a:ea typeface="DM Sans"/>
              <a:cs typeface="DM Sans"/>
              <a:sym typeface="DM Sans"/>
            </a:endParaRPr>
          </a:p>
        </p:txBody>
      </p:sp>
      <p:sp>
        <p:nvSpPr>
          <p:cNvPr id="120" name="Google Shape;120;p6"/>
          <p:cNvSpPr/>
          <p:nvPr/>
        </p:nvSpPr>
        <p:spPr>
          <a:xfrm>
            <a:off x="3840948" y="1280160"/>
            <a:ext cx="1463100" cy="548700"/>
          </a:xfrm>
          <a:prstGeom prst="rect">
            <a:avLst/>
          </a:prstGeom>
          <a:solidFill>
            <a:srgbClr val="2563EB"/>
          </a:solidFill>
          <a:ln cap="flat" cmpd="sng" w="12700">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21" name="Google Shape;121;p6"/>
          <p:cNvSpPr/>
          <p:nvPr/>
        </p:nvSpPr>
        <p:spPr>
          <a:xfrm>
            <a:off x="3840948" y="1280160"/>
            <a:ext cx="1463100" cy="548700"/>
          </a:xfrm>
          <a:prstGeom prst="rect">
            <a:avLst/>
          </a:prstGeom>
          <a:solidFill>
            <a:srgbClr val="008C8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DM Sans"/>
                <a:ea typeface="DM Sans"/>
                <a:cs typeface="DM Sans"/>
                <a:sym typeface="DM Sans"/>
              </a:rPr>
              <a:t>3. Embed</a:t>
            </a:r>
            <a:endParaRPr b="0" i="0" sz="1300" u="none" cap="none" strike="noStrike">
              <a:solidFill>
                <a:schemeClr val="dk1"/>
              </a:solidFill>
              <a:latin typeface="DM Sans"/>
              <a:ea typeface="DM Sans"/>
              <a:cs typeface="DM Sans"/>
              <a:sym typeface="DM Sans"/>
            </a:endParaRPr>
          </a:p>
        </p:txBody>
      </p:sp>
      <p:sp>
        <p:nvSpPr>
          <p:cNvPr id="122" name="Google Shape;122;p6"/>
          <p:cNvSpPr/>
          <p:nvPr/>
        </p:nvSpPr>
        <p:spPr>
          <a:xfrm>
            <a:off x="5303988" y="1490472"/>
            <a:ext cx="228600" cy="128100"/>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23" name="Google Shape;123;p6"/>
          <p:cNvSpPr/>
          <p:nvPr/>
        </p:nvSpPr>
        <p:spPr>
          <a:xfrm>
            <a:off x="3840948" y="1920240"/>
            <a:ext cx="14631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128-dim learned</a:t>
            </a:r>
            <a:endParaRPr b="0" i="0" sz="1000" u="none" cap="none" strike="noStrike">
              <a:solidFill>
                <a:schemeClr val="dk1"/>
              </a:solidFill>
              <a:latin typeface="DM Sans"/>
              <a:ea typeface="DM Sans"/>
              <a:cs typeface="DM Sans"/>
              <a:sym typeface="DM Sans"/>
            </a:endParaRPr>
          </a:p>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embedding layer</a:t>
            </a:r>
            <a:endParaRPr b="0" i="0" sz="1000" u="none" cap="none" strike="noStrike">
              <a:solidFill>
                <a:schemeClr val="dk1"/>
              </a:solidFill>
              <a:latin typeface="DM Sans"/>
              <a:ea typeface="DM Sans"/>
              <a:cs typeface="DM Sans"/>
              <a:sym typeface="DM Sans"/>
            </a:endParaRPr>
          </a:p>
        </p:txBody>
      </p:sp>
      <p:sp>
        <p:nvSpPr>
          <p:cNvPr id="124" name="Google Shape;124;p6"/>
          <p:cNvSpPr/>
          <p:nvPr/>
        </p:nvSpPr>
        <p:spPr>
          <a:xfrm>
            <a:off x="5532588" y="1280160"/>
            <a:ext cx="1463100" cy="548700"/>
          </a:xfrm>
          <a:prstGeom prst="rect">
            <a:avLst/>
          </a:prstGeom>
          <a:solidFill>
            <a:srgbClr val="2563EB"/>
          </a:solidFill>
          <a:ln cap="flat" cmpd="sng" w="12700">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25" name="Google Shape;125;p6"/>
          <p:cNvSpPr/>
          <p:nvPr/>
        </p:nvSpPr>
        <p:spPr>
          <a:xfrm>
            <a:off x="5532588" y="1280160"/>
            <a:ext cx="1463100" cy="548700"/>
          </a:xfrm>
          <a:prstGeom prst="rect">
            <a:avLst/>
          </a:prstGeom>
          <a:solidFill>
            <a:srgbClr val="008C8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DM Sans"/>
                <a:ea typeface="DM Sans"/>
                <a:cs typeface="DM Sans"/>
                <a:sym typeface="DM Sans"/>
              </a:rPr>
              <a:t>4. BiLSTM ×2</a:t>
            </a:r>
            <a:endParaRPr b="0" i="0" sz="1300" u="none" cap="none" strike="noStrike">
              <a:solidFill>
                <a:schemeClr val="dk1"/>
              </a:solidFill>
              <a:latin typeface="DM Sans"/>
              <a:ea typeface="DM Sans"/>
              <a:cs typeface="DM Sans"/>
              <a:sym typeface="DM Sans"/>
            </a:endParaRPr>
          </a:p>
        </p:txBody>
      </p:sp>
      <p:sp>
        <p:nvSpPr>
          <p:cNvPr id="126" name="Google Shape;126;p6"/>
          <p:cNvSpPr/>
          <p:nvPr/>
        </p:nvSpPr>
        <p:spPr>
          <a:xfrm>
            <a:off x="6995628" y="1490472"/>
            <a:ext cx="228600" cy="128100"/>
          </a:xfrm>
          <a:prstGeom prst="rect">
            <a:avLst/>
          </a:prstGeom>
          <a:solidFill>
            <a:srgbClr val="64748B"/>
          </a:solidFill>
          <a:ln cap="flat" cmpd="sng" w="12700">
            <a:solidFill>
              <a:srgbClr val="64748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27" name="Google Shape;127;p6"/>
          <p:cNvSpPr/>
          <p:nvPr/>
        </p:nvSpPr>
        <p:spPr>
          <a:xfrm>
            <a:off x="5532588" y="1920240"/>
            <a:ext cx="14631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64 units each</a:t>
            </a:r>
            <a:endParaRPr b="0" i="0" sz="1000" u="none" cap="none" strike="noStrike">
              <a:solidFill>
                <a:schemeClr val="dk1"/>
              </a:solidFill>
              <a:latin typeface="DM Sans"/>
              <a:ea typeface="DM Sans"/>
              <a:cs typeface="DM Sans"/>
              <a:sym typeface="DM Sans"/>
            </a:endParaRPr>
          </a:p>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Dropout 0.5</a:t>
            </a:r>
            <a:endParaRPr b="0" i="0" sz="1000" u="none" cap="none" strike="noStrike">
              <a:solidFill>
                <a:schemeClr val="dk1"/>
              </a:solidFill>
              <a:latin typeface="DM Sans"/>
              <a:ea typeface="DM Sans"/>
              <a:cs typeface="DM Sans"/>
              <a:sym typeface="DM Sans"/>
            </a:endParaRPr>
          </a:p>
        </p:txBody>
      </p:sp>
      <p:sp>
        <p:nvSpPr>
          <p:cNvPr id="128" name="Google Shape;128;p6"/>
          <p:cNvSpPr/>
          <p:nvPr/>
        </p:nvSpPr>
        <p:spPr>
          <a:xfrm>
            <a:off x="7224228" y="1280160"/>
            <a:ext cx="1463100" cy="548700"/>
          </a:xfrm>
          <a:prstGeom prst="rect">
            <a:avLst/>
          </a:prstGeom>
          <a:solidFill>
            <a:srgbClr val="2563EB"/>
          </a:solidFill>
          <a:ln cap="flat" cmpd="sng" w="12700">
            <a:solidFill>
              <a:srgbClr val="2563E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29" name="Google Shape;129;p6"/>
          <p:cNvSpPr/>
          <p:nvPr/>
        </p:nvSpPr>
        <p:spPr>
          <a:xfrm>
            <a:off x="7224228" y="1280160"/>
            <a:ext cx="1463100" cy="548700"/>
          </a:xfrm>
          <a:prstGeom prst="rect">
            <a:avLst/>
          </a:prstGeom>
          <a:solidFill>
            <a:srgbClr val="008C8E"/>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DM Sans"/>
                <a:ea typeface="DM Sans"/>
                <a:cs typeface="DM Sans"/>
                <a:sym typeface="DM Sans"/>
              </a:rPr>
              <a:t>5. Classify</a:t>
            </a:r>
            <a:endParaRPr b="0" i="0" sz="1300" u="none" cap="none" strike="noStrike">
              <a:solidFill>
                <a:schemeClr val="dk1"/>
              </a:solidFill>
              <a:latin typeface="DM Sans"/>
              <a:ea typeface="DM Sans"/>
              <a:cs typeface="DM Sans"/>
              <a:sym typeface="DM Sans"/>
            </a:endParaRPr>
          </a:p>
        </p:txBody>
      </p:sp>
      <p:sp>
        <p:nvSpPr>
          <p:cNvPr id="130" name="Google Shape;130;p6"/>
          <p:cNvSpPr/>
          <p:nvPr/>
        </p:nvSpPr>
        <p:spPr>
          <a:xfrm>
            <a:off x="7224228" y="1920240"/>
            <a:ext cx="14631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Dense → Softmax</a:t>
            </a:r>
            <a:endParaRPr b="0" i="0" sz="1000" u="none" cap="none" strike="noStrike">
              <a:solidFill>
                <a:schemeClr val="dk1"/>
              </a:solidFill>
              <a:latin typeface="DM Sans"/>
              <a:ea typeface="DM Sans"/>
              <a:cs typeface="DM Sans"/>
              <a:sym typeface="DM Sans"/>
            </a:endParaRPr>
          </a:p>
          <a:p>
            <a:pPr indent="0" lvl="0" marL="0" marR="0" rtl="0" algn="ctr">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DM Sans"/>
                <a:ea typeface="DM Sans"/>
                <a:cs typeface="DM Sans"/>
                <a:sym typeface="DM Sans"/>
              </a:rPr>
              <a:t>Left / Center / Right</a:t>
            </a:r>
            <a:endParaRPr b="0" i="0" sz="1000" u="none" cap="none" strike="noStrike">
              <a:solidFill>
                <a:schemeClr val="dk1"/>
              </a:solidFill>
              <a:latin typeface="DM Sans"/>
              <a:ea typeface="DM Sans"/>
              <a:cs typeface="DM Sans"/>
              <a:sym typeface="DM Sans"/>
            </a:endParaRPr>
          </a:p>
        </p:txBody>
      </p:sp>
      <p:sp>
        <p:nvSpPr>
          <p:cNvPr id="131" name="Google Shape;131;p6"/>
          <p:cNvSpPr/>
          <p:nvPr/>
        </p:nvSpPr>
        <p:spPr>
          <a:xfrm>
            <a:off x="457250" y="2743200"/>
            <a:ext cx="8229600" cy="2148900"/>
          </a:xfrm>
          <a:prstGeom prst="rect">
            <a:avLst/>
          </a:prstGeom>
          <a:solidFill>
            <a:srgbClr val="F4F4F4"/>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32" name="Google Shape;132;p6"/>
          <p:cNvSpPr/>
          <p:nvPr/>
        </p:nvSpPr>
        <p:spPr>
          <a:xfrm>
            <a:off x="640080" y="2834640"/>
            <a:ext cx="78638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Calibri"/>
              <a:buNone/>
            </a:pPr>
            <a:r>
              <a:rPr b="1" i="0" lang="en-US" sz="1400" u="none" cap="none" strike="noStrike">
                <a:solidFill>
                  <a:srgbClr val="1E2761"/>
                </a:solidFill>
                <a:latin typeface="DM Sans"/>
                <a:ea typeface="DM Sans"/>
                <a:cs typeface="DM Sans"/>
                <a:sym typeface="DM Sans"/>
              </a:rPr>
              <a:t>Model Architecture</a:t>
            </a:r>
            <a:endParaRPr b="0" i="0" sz="1400" u="none" cap="none" strike="noStrike">
              <a:solidFill>
                <a:schemeClr val="dk1"/>
              </a:solidFill>
              <a:latin typeface="DM Sans"/>
              <a:ea typeface="DM Sans"/>
              <a:cs typeface="DM Sans"/>
              <a:sym typeface="DM Sans"/>
            </a:endParaRPr>
          </a:p>
        </p:txBody>
      </p:sp>
      <p:sp>
        <p:nvSpPr>
          <p:cNvPr id="133" name="Google Shape;133;p6"/>
          <p:cNvSpPr/>
          <p:nvPr/>
        </p:nvSpPr>
        <p:spPr>
          <a:xfrm>
            <a:off x="640080" y="3246120"/>
            <a:ext cx="2377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100"/>
              <a:buFont typeface="Calibri"/>
              <a:buNone/>
            </a:pPr>
            <a:r>
              <a:rPr b="1" i="0" lang="en-US" sz="1100" u="none" cap="none" strike="noStrike">
                <a:solidFill>
                  <a:srgbClr val="1E2761"/>
                </a:solidFill>
                <a:latin typeface="DM Sans"/>
                <a:ea typeface="DM Sans"/>
                <a:cs typeface="DM Sans"/>
                <a:sym typeface="DM Sans"/>
              </a:rPr>
              <a:t>Embedding Layer:</a:t>
            </a:r>
            <a:endParaRPr b="0" i="0" sz="1100" u="none" cap="none" strike="noStrike">
              <a:solidFill>
                <a:srgbClr val="1E2761"/>
              </a:solidFill>
              <a:latin typeface="DM Sans"/>
              <a:ea typeface="DM Sans"/>
              <a:cs typeface="DM Sans"/>
              <a:sym typeface="DM Sans"/>
            </a:endParaRPr>
          </a:p>
        </p:txBody>
      </p:sp>
      <p:sp>
        <p:nvSpPr>
          <p:cNvPr id="134" name="Google Shape;134;p6"/>
          <p:cNvSpPr/>
          <p:nvPr/>
        </p:nvSpPr>
        <p:spPr>
          <a:xfrm>
            <a:off x="3108960" y="324612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Vocabulary: 5,000 tokens  |  Dimensions: 128</a:t>
            </a:r>
            <a:endParaRPr b="0" i="0" sz="1100" u="none" cap="none" strike="noStrike">
              <a:solidFill>
                <a:schemeClr val="dk1"/>
              </a:solidFill>
              <a:latin typeface="DM Sans"/>
              <a:ea typeface="DM Sans"/>
              <a:cs typeface="DM Sans"/>
              <a:sym typeface="DM Sans"/>
            </a:endParaRPr>
          </a:p>
        </p:txBody>
      </p:sp>
      <p:sp>
        <p:nvSpPr>
          <p:cNvPr id="135" name="Google Shape;135;p6"/>
          <p:cNvSpPr/>
          <p:nvPr/>
        </p:nvSpPr>
        <p:spPr>
          <a:xfrm>
            <a:off x="640080" y="3566160"/>
            <a:ext cx="2377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100"/>
              <a:buFont typeface="Calibri"/>
              <a:buNone/>
            </a:pPr>
            <a:r>
              <a:rPr b="1" i="0" lang="en-US" sz="1100" u="none" cap="none" strike="noStrike">
                <a:solidFill>
                  <a:srgbClr val="1E2761"/>
                </a:solidFill>
                <a:latin typeface="DM Sans"/>
                <a:ea typeface="DM Sans"/>
                <a:cs typeface="DM Sans"/>
                <a:sym typeface="DM Sans"/>
              </a:rPr>
              <a:t>Bidirectional LSTM ×2:</a:t>
            </a:r>
            <a:endParaRPr b="0" i="0" sz="1100" u="none" cap="none" strike="noStrike">
              <a:solidFill>
                <a:srgbClr val="1E2761"/>
              </a:solidFill>
              <a:latin typeface="DM Sans"/>
              <a:ea typeface="DM Sans"/>
              <a:cs typeface="DM Sans"/>
              <a:sym typeface="DM Sans"/>
            </a:endParaRPr>
          </a:p>
        </p:txBody>
      </p:sp>
      <p:sp>
        <p:nvSpPr>
          <p:cNvPr id="136" name="Google Shape;136;p6"/>
          <p:cNvSpPr/>
          <p:nvPr/>
        </p:nvSpPr>
        <p:spPr>
          <a:xfrm>
            <a:off x="3108960" y="356616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64 units each  |  return_sequences=True on first layer</a:t>
            </a:r>
            <a:endParaRPr b="0" i="0" sz="1100" u="none" cap="none" strike="noStrike">
              <a:solidFill>
                <a:schemeClr val="dk1"/>
              </a:solidFill>
              <a:latin typeface="DM Sans"/>
              <a:ea typeface="DM Sans"/>
              <a:cs typeface="DM Sans"/>
              <a:sym typeface="DM Sans"/>
            </a:endParaRPr>
          </a:p>
        </p:txBody>
      </p:sp>
      <p:sp>
        <p:nvSpPr>
          <p:cNvPr id="137" name="Google Shape;137;p6"/>
          <p:cNvSpPr/>
          <p:nvPr/>
        </p:nvSpPr>
        <p:spPr>
          <a:xfrm>
            <a:off x="640080" y="3886200"/>
            <a:ext cx="2377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100"/>
              <a:buFont typeface="Calibri"/>
              <a:buNone/>
            </a:pPr>
            <a:r>
              <a:rPr b="1" i="0" lang="en-US" sz="1100" u="none" cap="none" strike="noStrike">
                <a:solidFill>
                  <a:srgbClr val="1E2761"/>
                </a:solidFill>
                <a:latin typeface="DM Sans"/>
                <a:ea typeface="DM Sans"/>
                <a:cs typeface="DM Sans"/>
                <a:sym typeface="DM Sans"/>
              </a:rPr>
              <a:t>Dense Layers:</a:t>
            </a:r>
            <a:endParaRPr b="0" i="0" sz="1100" u="none" cap="none" strike="noStrike">
              <a:solidFill>
                <a:srgbClr val="1E2761"/>
              </a:solidFill>
              <a:latin typeface="DM Sans"/>
              <a:ea typeface="DM Sans"/>
              <a:cs typeface="DM Sans"/>
              <a:sym typeface="DM Sans"/>
            </a:endParaRPr>
          </a:p>
        </p:txBody>
      </p:sp>
      <p:sp>
        <p:nvSpPr>
          <p:cNvPr id="138" name="Google Shape;138;p6"/>
          <p:cNvSpPr/>
          <p:nvPr/>
        </p:nvSpPr>
        <p:spPr>
          <a:xfrm>
            <a:off x="3108960" y="388620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128 → 64 units  |  ReLU activation  |  Dropout 0.5 after each</a:t>
            </a:r>
            <a:endParaRPr b="0" i="0" sz="1100" u="none" cap="none" strike="noStrike">
              <a:solidFill>
                <a:schemeClr val="dk1"/>
              </a:solidFill>
              <a:latin typeface="DM Sans"/>
              <a:ea typeface="DM Sans"/>
              <a:cs typeface="DM Sans"/>
              <a:sym typeface="DM Sans"/>
            </a:endParaRPr>
          </a:p>
        </p:txBody>
      </p:sp>
      <p:sp>
        <p:nvSpPr>
          <p:cNvPr id="139" name="Google Shape;139;p6"/>
          <p:cNvSpPr/>
          <p:nvPr/>
        </p:nvSpPr>
        <p:spPr>
          <a:xfrm>
            <a:off x="640080" y="4206240"/>
            <a:ext cx="2377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100"/>
              <a:buFont typeface="Calibri"/>
              <a:buNone/>
            </a:pPr>
            <a:r>
              <a:rPr b="1" i="0" lang="en-US" sz="1100" u="none" cap="none" strike="noStrike">
                <a:solidFill>
                  <a:srgbClr val="1E2761"/>
                </a:solidFill>
                <a:latin typeface="DM Sans"/>
                <a:ea typeface="DM Sans"/>
                <a:cs typeface="DM Sans"/>
                <a:sym typeface="DM Sans"/>
              </a:rPr>
              <a:t>Output Layer:</a:t>
            </a:r>
            <a:endParaRPr b="0" i="0" sz="1100" u="none" cap="none" strike="noStrike">
              <a:solidFill>
                <a:srgbClr val="1E2761"/>
              </a:solidFill>
              <a:latin typeface="DM Sans"/>
              <a:ea typeface="DM Sans"/>
              <a:cs typeface="DM Sans"/>
              <a:sym typeface="DM Sans"/>
            </a:endParaRPr>
          </a:p>
        </p:txBody>
      </p:sp>
      <p:sp>
        <p:nvSpPr>
          <p:cNvPr id="140" name="Google Shape;140;p6"/>
          <p:cNvSpPr/>
          <p:nvPr/>
        </p:nvSpPr>
        <p:spPr>
          <a:xfrm>
            <a:off x="3108960" y="42062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3 units  |  Softmax  |  Optimizer: Adam (lr=0.001)</a:t>
            </a:r>
            <a:endParaRPr b="0" i="0" sz="1100" u="none" cap="none" strike="noStrike">
              <a:solidFill>
                <a:schemeClr val="dk1"/>
              </a:solidFill>
              <a:latin typeface="DM Sans"/>
              <a:ea typeface="DM Sans"/>
              <a:cs typeface="DM Sans"/>
              <a:sym typeface="DM Sans"/>
            </a:endParaRPr>
          </a:p>
        </p:txBody>
      </p:sp>
      <p:sp>
        <p:nvSpPr>
          <p:cNvPr id="141" name="Google Shape;141;p6"/>
          <p:cNvSpPr/>
          <p:nvPr/>
        </p:nvSpPr>
        <p:spPr>
          <a:xfrm>
            <a:off x="640080" y="4526280"/>
            <a:ext cx="2377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100"/>
              <a:buFont typeface="Calibri"/>
              <a:buNone/>
            </a:pPr>
            <a:r>
              <a:rPr b="1" i="0" lang="en-US" sz="1100" u="none" cap="none" strike="noStrike">
                <a:solidFill>
                  <a:srgbClr val="1E2761"/>
                </a:solidFill>
                <a:latin typeface="DM Sans"/>
                <a:ea typeface="DM Sans"/>
                <a:cs typeface="DM Sans"/>
                <a:sym typeface="DM Sans"/>
              </a:rPr>
              <a:t>Training:</a:t>
            </a:r>
            <a:endParaRPr b="0" i="0" sz="1100" u="none" cap="none" strike="noStrike">
              <a:solidFill>
                <a:srgbClr val="1E2761"/>
              </a:solidFill>
              <a:latin typeface="DM Sans"/>
              <a:ea typeface="DM Sans"/>
              <a:cs typeface="DM Sans"/>
              <a:sym typeface="DM Sans"/>
            </a:endParaRPr>
          </a:p>
        </p:txBody>
      </p:sp>
      <p:sp>
        <p:nvSpPr>
          <p:cNvPr id="142" name="Google Shape;142;p6"/>
          <p:cNvSpPr/>
          <p:nvPr/>
        </p:nvSpPr>
        <p:spPr>
          <a:xfrm>
            <a:off x="3108960" y="45262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80/20 stratified split  |  Early stopping (patience=3)  |  Best epoch restored</a:t>
            </a:r>
            <a:endParaRPr b="0" i="0" sz="1100" u="none" cap="none" strike="noStrike">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7"/>
          <p:cNvSpPr/>
          <p:nvPr/>
        </p:nvSpPr>
        <p:spPr>
          <a:xfrm>
            <a:off x="457200" y="18288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Baseline Result 1: Training &amp; Convergence</a:t>
            </a:r>
            <a:endParaRPr b="0" i="0" sz="2800" u="none" cap="none" strike="noStrike">
              <a:solidFill>
                <a:srgbClr val="008C8E"/>
              </a:solidFill>
              <a:latin typeface="DM Sans"/>
              <a:ea typeface="DM Sans"/>
              <a:cs typeface="DM Sans"/>
              <a:sym typeface="DM Sans"/>
            </a:endParaRPr>
          </a:p>
        </p:txBody>
      </p:sp>
      <p:sp>
        <p:nvSpPr>
          <p:cNvPr id="149" name="Google Shape;149;p7"/>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50" name="Google Shape;150;p7"/>
          <p:cNvSpPr/>
          <p:nvPr/>
        </p:nvSpPr>
        <p:spPr>
          <a:xfrm>
            <a:off x="6217920" y="1188720"/>
            <a:ext cx="2468880" cy="804672"/>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51" name="Google Shape;151;p7"/>
          <p:cNvSpPr/>
          <p:nvPr/>
        </p:nvSpPr>
        <p:spPr>
          <a:xfrm>
            <a:off x="6217920" y="1234440"/>
            <a:ext cx="24688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600"/>
              <a:buFont typeface="Calibri"/>
              <a:buNone/>
            </a:pPr>
            <a:r>
              <a:rPr b="1" i="0" lang="en-US" sz="2600" u="none" cap="none" strike="noStrike">
                <a:solidFill>
                  <a:srgbClr val="FFFFFF"/>
                </a:solidFill>
                <a:latin typeface="DM Sans"/>
                <a:ea typeface="DM Sans"/>
                <a:cs typeface="DM Sans"/>
                <a:sym typeface="DM Sans"/>
              </a:rPr>
              <a:t>7</a:t>
            </a:r>
            <a:endParaRPr b="0" i="0" sz="2600" u="none" cap="none" strike="noStrike">
              <a:solidFill>
                <a:schemeClr val="dk1"/>
              </a:solidFill>
              <a:latin typeface="DM Sans"/>
              <a:ea typeface="DM Sans"/>
              <a:cs typeface="DM Sans"/>
              <a:sym typeface="DM Sans"/>
            </a:endParaRPr>
          </a:p>
        </p:txBody>
      </p:sp>
      <p:sp>
        <p:nvSpPr>
          <p:cNvPr id="152" name="Google Shape;152;p7"/>
          <p:cNvSpPr/>
          <p:nvPr/>
        </p:nvSpPr>
        <p:spPr>
          <a:xfrm>
            <a:off x="6217920" y="1618488"/>
            <a:ext cx="246888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000"/>
              <a:buFont typeface="Calibri"/>
              <a:buNone/>
            </a:pPr>
            <a:r>
              <a:rPr b="0" i="0" lang="en-US" sz="1000" u="none" cap="none" strike="noStrike">
                <a:solidFill>
                  <a:srgbClr val="E3E3E3"/>
                </a:solidFill>
                <a:latin typeface="DM Sans"/>
                <a:ea typeface="DM Sans"/>
                <a:cs typeface="DM Sans"/>
                <a:sym typeface="DM Sans"/>
              </a:rPr>
              <a:t>Epochs until</a:t>
            </a:r>
            <a:endParaRPr b="0" i="0" sz="1000" u="none" cap="none" strike="noStrike">
              <a:solidFill>
                <a:srgbClr val="E3E3E3"/>
              </a:solidFill>
              <a:latin typeface="DM Sans"/>
              <a:ea typeface="DM Sans"/>
              <a:cs typeface="DM Sans"/>
              <a:sym typeface="DM Sans"/>
            </a:endParaRPr>
          </a:p>
          <a:p>
            <a:pPr indent="0" lvl="0" marL="0" marR="0" rtl="0" algn="ctr">
              <a:lnSpc>
                <a:spcPct val="100000"/>
              </a:lnSpc>
              <a:spcBef>
                <a:spcPts val="0"/>
              </a:spcBef>
              <a:spcAft>
                <a:spcPts val="0"/>
              </a:spcAft>
              <a:buClr>
                <a:srgbClr val="CADCFC"/>
              </a:buClr>
              <a:buSzPts val="1000"/>
              <a:buFont typeface="Calibri"/>
              <a:buNone/>
            </a:pPr>
            <a:r>
              <a:rPr b="0" i="0" lang="en-US" sz="1000" u="none" cap="none" strike="noStrike">
                <a:solidFill>
                  <a:srgbClr val="E3E3E3"/>
                </a:solidFill>
                <a:latin typeface="DM Sans"/>
                <a:ea typeface="DM Sans"/>
                <a:cs typeface="DM Sans"/>
                <a:sym typeface="DM Sans"/>
              </a:rPr>
              <a:t>early stop</a:t>
            </a:r>
            <a:endParaRPr b="0" i="0" sz="1000" u="none" cap="none" strike="noStrike">
              <a:solidFill>
                <a:srgbClr val="E3E3E3"/>
              </a:solidFill>
              <a:latin typeface="DM Sans"/>
              <a:ea typeface="DM Sans"/>
              <a:cs typeface="DM Sans"/>
              <a:sym typeface="DM Sans"/>
            </a:endParaRPr>
          </a:p>
        </p:txBody>
      </p:sp>
      <p:sp>
        <p:nvSpPr>
          <p:cNvPr id="153" name="Google Shape;153;p7"/>
          <p:cNvSpPr/>
          <p:nvPr/>
        </p:nvSpPr>
        <p:spPr>
          <a:xfrm>
            <a:off x="6217920" y="2148840"/>
            <a:ext cx="2468880" cy="804672"/>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54" name="Google Shape;154;p7"/>
          <p:cNvSpPr/>
          <p:nvPr/>
        </p:nvSpPr>
        <p:spPr>
          <a:xfrm>
            <a:off x="6217920" y="2194560"/>
            <a:ext cx="24688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2600"/>
              <a:buFont typeface="Calibri"/>
              <a:buNone/>
            </a:pPr>
            <a:r>
              <a:rPr b="1" i="0" lang="en-US" sz="2600" u="none" cap="none" strike="noStrike">
                <a:solidFill>
                  <a:srgbClr val="1E2761"/>
                </a:solidFill>
                <a:latin typeface="DM Sans"/>
                <a:ea typeface="DM Sans"/>
                <a:cs typeface="DM Sans"/>
                <a:sym typeface="DM Sans"/>
              </a:rPr>
              <a:t>4</a:t>
            </a:r>
            <a:endParaRPr b="0" i="0" sz="2600" u="none" cap="none" strike="noStrike">
              <a:solidFill>
                <a:schemeClr val="dk1"/>
              </a:solidFill>
              <a:latin typeface="DM Sans"/>
              <a:ea typeface="DM Sans"/>
              <a:cs typeface="DM Sans"/>
              <a:sym typeface="DM Sans"/>
            </a:endParaRPr>
          </a:p>
        </p:txBody>
      </p:sp>
      <p:sp>
        <p:nvSpPr>
          <p:cNvPr id="155" name="Google Shape;155;p7"/>
          <p:cNvSpPr/>
          <p:nvPr/>
        </p:nvSpPr>
        <p:spPr>
          <a:xfrm>
            <a:off x="6217920" y="2578608"/>
            <a:ext cx="246888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C6C6C"/>
                </a:solidFill>
                <a:latin typeface="DM Sans"/>
                <a:ea typeface="DM Sans"/>
                <a:cs typeface="DM Sans"/>
                <a:sym typeface="DM Sans"/>
              </a:rPr>
              <a:t>Best epoch</a:t>
            </a:r>
            <a:endParaRPr b="0" i="0" sz="1000" u="none" cap="none" strike="noStrike">
              <a:solidFill>
                <a:srgbClr val="6C6C6C"/>
              </a:solidFill>
              <a:latin typeface="DM Sans"/>
              <a:ea typeface="DM Sans"/>
              <a:cs typeface="DM Sans"/>
              <a:sym typeface="DM Sans"/>
            </a:endParaRPr>
          </a:p>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C6C6C"/>
                </a:solidFill>
                <a:latin typeface="DM Sans"/>
                <a:ea typeface="DM Sans"/>
                <a:cs typeface="DM Sans"/>
                <a:sym typeface="DM Sans"/>
              </a:rPr>
              <a:t>(weights restored)</a:t>
            </a:r>
            <a:endParaRPr b="0" i="0" sz="1000" u="none" cap="none" strike="noStrike">
              <a:solidFill>
                <a:srgbClr val="6C6C6C"/>
              </a:solidFill>
              <a:latin typeface="DM Sans"/>
              <a:ea typeface="DM Sans"/>
              <a:cs typeface="DM Sans"/>
              <a:sym typeface="DM Sans"/>
            </a:endParaRPr>
          </a:p>
        </p:txBody>
      </p:sp>
      <p:sp>
        <p:nvSpPr>
          <p:cNvPr id="156" name="Google Shape;156;p7"/>
          <p:cNvSpPr/>
          <p:nvPr/>
        </p:nvSpPr>
        <p:spPr>
          <a:xfrm>
            <a:off x="6217920" y="3108960"/>
            <a:ext cx="2468880" cy="804672"/>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57" name="Google Shape;157;p7"/>
          <p:cNvSpPr/>
          <p:nvPr/>
        </p:nvSpPr>
        <p:spPr>
          <a:xfrm>
            <a:off x="6217920" y="3154680"/>
            <a:ext cx="24688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600"/>
              <a:buFont typeface="Calibri"/>
              <a:buNone/>
            </a:pPr>
            <a:r>
              <a:rPr b="1" i="0" lang="en-US" sz="2600" u="none" cap="none" strike="noStrike">
                <a:solidFill>
                  <a:srgbClr val="FFFFFF"/>
                </a:solidFill>
                <a:latin typeface="DM Sans"/>
                <a:ea typeface="DM Sans"/>
                <a:cs typeface="DM Sans"/>
                <a:sym typeface="DM Sans"/>
              </a:rPr>
              <a:t>61.4%</a:t>
            </a:r>
            <a:endParaRPr b="0" i="0" sz="2600" u="none" cap="none" strike="noStrike">
              <a:solidFill>
                <a:schemeClr val="dk1"/>
              </a:solidFill>
              <a:latin typeface="DM Sans"/>
              <a:ea typeface="DM Sans"/>
              <a:cs typeface="DM Sans"/>
              <a:sym typeface="DM Sans"/>
            </a:endParaRPr>
          </a:p>
        </p:txBody>
      </p:sp>
      <p:sp>
        <p:nvSpPr>
          <p:cNvPr id="158" name="Google Shape;158;p7"/>
          <p:cNvSpPr/>
          <p:nvPr/>
        </p:nvSpPr>
        <p:spPr>
          <a:xfrm>
            <a:off x="6217920" y="3538728"/>
            <a:ext cx="246888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000"/>
              <a:buFont typeface="Calibri"/>
              <a:buNone/>
            </a:pPr>
            <a:r>
              <a:rPr b="0" i="0" lang="en-US" sz="1000" u="none" cap="none" strike="noStrike">
                <a:solidFill>
                  <a:srgbClr val="E3E3E3"/>
                </a:solidFill>
                <a:latin typeface="DM Sans"/>
                <a:ea typeface="DM Sans"/>
                <a:cs typeface="DM Sans"/>
                <a:sym typeface="DM Sans"/>
              </a:rPr>
              <a:t>Val accuracy</a:t>
            </a:r>
            <a:endParaRPr b="0" i="0" sz="1000" u="none" cap="none" strike="noStrike">
              <a:solidFill>
                <a:srgbClr val="E3E3E3"/>
              </a:solidFill>
              <a:latin typeface="DM Sans"/>
              <a:ea typeface="DM Sans"/>
              <a:cs typeface="DM Sans"/>
              <a:sym typeface="DM Sans"/>
            </a:endParaRPr>
          </a:p>
          <a:p>
            <a:pPr indent="0" lvl="0" marL="0" marR="0" rtl="0" algn="ctr">
              <a:lnSpc>
                <a:spcPct val="100000"/>
              </a:lnSpc>
              <a:spcBef>
                <a:spcPts val="0"/>
              </a:spcBef>
              <a:spcAft>
                <a:spcPts val="0"/>
              </a:spcAft>
              <a:buClr>
                <a:srgbClr val="CADCFC"/>
              </a:buClr>
              <a:buSzPts val="1000"/>
              <a:buFont typeface="Calibri"/>
              <a:buNone/>
            </a:pPr>
            <a:r>
              <a:rPr b="0" i="0" lang="en-US" sz="1000" u="none" cap="none" strike="noStrike">
                <a:solidFill>
                  <a:srgbClr val="E3E3E3"/>
                </a:solidFill>
                <a:latin typeface="DM Sans"/>
                <a:ea typeface="DM Sans"/>
                <a:cs typeface="DM Sans"/>
                <a:sym typeface="DM Sans"/>
              </a:rPr>
              <a:t>at best epoch</a:t>
            </a:r>
            <a:endParaRPr b="0" i="0" sz="1000" u="none" cap="none" strike="noStrike">
              <a:solidFill>
                <a:srgbClr val="E3E3E3"/>
              </a:solidFill>
              <a:latin typeface="DM Sans"/>
              <a:ea typeface="DM Sans"/>
              <a:cs typeface="DM Sans"/>
              <a:sym typeface="DM Sans"/>
            </a:endParaRPr>
          </a:p>
        </p:txBody>
      </p:sp>
      <p:sp>
        <p:nvSpPr>
          <p:cNvPr id="159" name="Google Shape;159;p7"/>
          <p:cNvSpPr/>
          <p:nvPr/>
        </p:nvSpPr>
        <p:spPr>
          <a:xfrm>
            <a:off x="6217920" y="4069080"/>
            <a:ext cx="2468880" cy="804672"/>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60" name="Google Shape;160;p7"/>
          <p:cNvSpPr/>
          <p:nvPr/>
        </p:nvSpPr>
        <p:spPr>
          <a:xfrm>
            <a:off x="6217920" y="4114800"/>
            <a:ext cx="2468880" cy="4114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761"/>
              </a:buClr>
              <a:buSzPts val="2600"/>
              <a:buFont typeface="Calibri"/>
              <a:buNone/>
            </a:pPr>
            <a:r>
              <a:rPr b="1" i="0" lang="en-US" sz="2600" u="none" cap="none" strike="noStrike">
                <a:solidFill>
                  <a:srgbClr val="1E2761"/>
                </a:solidFill>
                <a:latin typeface="DM Sans"/>
                <a:ea typeface="DM Sans"/>
                <a:cs typeface="DM Sans"/>
                <a:sym typeface="DM Sans"/>
              </a:rPr>
              <a:t>69.8%</a:t>
            </a:r>
            <a:endParaRPr b="0" i="0" sz="2600" u="none" cap="none" strike="noStrike">
              <a:solidFill>
                <a:schemeClr val="dk1"/>
              </a:solidFill>
              <a:latin typeface="DM Sans"/>
              <a:ea typeface="DM Sans"/>
              <a:cs typeface="DM Sans"/>
              <a:sym typeface="DM Sans"/>
            </a:endParaRPr>
          </a:p>
        </p:txBody>
      </p:sp>
      <p:sp>
        <p:nvSpPr>
          <p:cNvPr id="161" name="Google Shape;161;p7"/>
          <p:cNvSpPr/>
          <p:nvPr/>
        </p:nvSpPr>
        <p:spPr>
          <a:xfrm>
            <a:off x="6217920" y="4498848"/>
            <a:ext cx="2468880" cy="3200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C6C6C"/>
                </a:solidFill>
                <a:latin typeface="DM Sans"/>
                <a:ea typeface="DM Sans"/>
                <a:cs typeface="DM Sans"/>
                <a:sym typeface="DM Sans"/>
              </a:rPr>
              <a:t>Train accuracy</a:t>
            </a:r>
            <a:endParaRPr b="0" i="0" sz="1000" u="none" cap="none" strike="noStrike">
              <a:solidFill>
                <a:srgbClr val="6C6C6C"/>
              </a:solidFill>
              <a:latin typeface="DM Sans"/>
              <a:ea typeface="DM Sans"/>
              <a:cs typeface="DM Sans"/>
              <a:sym typeface="DM Sans"/>
            </a:endParaRPr>
          </a:p>
          <a:p>
            <a:pPr indent="0" lvl="0" marL="0" marR="0" rtl="0" algn="ctr">
              <a:lnSpc>
                <a:spcPct val="100000"/>
              </a:lnSpc>
              <a:spcBef>
                <a:spcPts val="0"/>
              </a:spcBef>
              <a:spcAft>
                <a:spcPts val="0"/>
              </a:spcAft>
              <a:buClr>
                <a:srgbClr val="64748B"/>
              </a:buClr>
              <a:buSzPts val="1000"/>
              <a:buFont typeface="Calibri"/>
              <a:buNone/>
            </a:pPr>
            <a:r>
              <a:rPr b="0" i="0" lang="en-US" sz="1000" u="none" cap="none" strike="noStrike">
                <a:solidFill>
                  <a:srgbClr val="6C6C6C"/>
                </a:solidFill>
                <a:latin typeface="DM Sans"/>
                <a:ea typeface="DM Sans"/>
                <a:cs typeface="DM Sans"/>
                <a:sym typeface="DM Sans"/>
              </a:rPr>
              <a:t>at best epoch</a:t>
            </a:r>
            <a:endParaRPr b="0" i="0" sz="1000" u="none" cap="none" strike="noStrike">
              <a:solidFill>
                <a:srgbClr val="6C6C6C"/>
              </a:solidFill>
              <a:latin typeface="DM Sans"/>
              <a:ea typeface="DM Sans"/>
              <a:cs typeface="DM Sans"/>
              <a:sym typeface="DM Sans"/>
            </a:endParaRPr>
          </a:p>
        </p:txBody>
      </p:sp>
      <p:sp>
        <p:nvSpPr>
          <p:cNvPr id="162" name="Google Shape;162;p7"/>
          <p:cNvSpPr/>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1" lang="en-US" sz="1100" u="none" cap="none" strike="noStrike">
                <a:solidFill>
                  <a:srgbClr val="64748B"/>
                </a:solidFill>
                <a:latin typeface="DM Sans"/>
                <a:ea typeface="DM Sans"/>
                <a:cs typeface="DM Sans"/>
                <a:sym typeface="DM Sans"/>
              </a:rPr>
              <a:t>Training accuracy (70%) &gt; Validation accuracy (61%) — model is learning without severe overfitting.</a:t>
            </a:r>
            <a:endParaRPr b="0" i="0" sz="1100" u="none" cap="none" strike="noStrike">
              <a:solidFill>
                <a:schemeClr val="dk1"/>
              </a:solidFill>
              <a:latin typeface="DM Sans"/>
              <a:ea typeface="DM Sans"/>
              <a:cs typeface="DM Sans"/>
              <a:sym typeface="DM Sans"/>
            </a:endParaRPr>
          </a:p>
        </p:txBody>
      </p:sp>
      <p:pic>
        <p:nvPicPr>
          <p:cNvPr id="163" name="Google Shape;163;p7"/>
          <p:cNvPicPr preferRelativeResize="0"/>
          <p:nvPr/>
        </p:nvPicPr>
        <p:blipFill rotWithShape="1">
          <a:blip r:embed="rId3">
            <a:alphaModFix/>
          </a:blip>
          <a:srcRect b="0" l="0" r="0" t="0"/>
          <a:stretch/>
        </p:blipFill>
        <p:spPr>
          <a:xfrm>
            <a:off x="436923" y="1194816"/>
            <a:ext cx="5260035" cy="34076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8"/>
          <p:cNvSpPr/>
          <p:nvPr/>
        </p:nvSpPr>
        <p:spPr>
          <a:xfrm>
            <a:off x="457200" y="18288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Baseline Result 2: Classification Performance</a:t>
            </a:r>
            <a:endParaRPr b="0" i="0" sz="2800" u="none" cap="none" strike="noStrike">
              <a:solidFill>
                <a:srgbClr val="008C8E"/>
              </a:solidFill>
              <a:latin typeface="DM Sans"/>
              <a:ea typeface="DM Sans"/>
              <a:cs typeface="DM Sans"/>
              <a:sym typeface="DM Sans"/>
            </a:endParaRPr>
          </a:p>
        </p:txBody>
      </p:sp>
      <p:sp>
        <p:nvSpPr>
          <p:cNvPr id="170" name="Google Shape;170;p8"/>
          <p:cNvSpPr/>
          <p:nvPr/>
        </p:nvSpPr>
        <p:spPr>
          <a:xfrm>
            <a:off x="457200" y="777240"/>
            <a:ext cx="82296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Calibri"/>
              <a:buNone/>
            </a:pPr>
            <a:r>
              <a:rPr b="0" i="0" lang="en-US" sz="1400" u="none" cap="none" strike="noStrike">
                <a:solidFill>
                  <a:srgbClr val="64748B"/>
                </a:solidFill>
                <a:latin typeface="DM Sans"/>
                <a:ea typeface="DM Sans"/>
                <a:cs typeface="DM Sans"/>
                <a:sym typeface="DM Sans"/>
              </a:rPr>
              <a:t>Held-out test set — 7,511 articles</a:t>
            </a:r>
            <a:endParaRPr b="0" i="0" sz="1400" u="none" cap="none" strike="noStrike">
              <a:solidFill>
                <a:schemeClr val="dk1"/>
              </a:solidFill>
              <a:latin typeface="DM Sans"/>
              <a:ea typeface="DM Sans"/>
              <a:cs typeface="DM Sans"/>
              <a:sym typeface="DM Sans"/>
            </a:endParaRPr>
          </a:p>
        </p:txBody>
      </p:sp>
      <p:sp>
        <p:nvSpPr>
          <p:cNvPr id="171" name="Google Shape;171;p8"/>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72" name="Google Shape;172;p8"/>
          <p:cNvSpPr/>
          <p:nvPr/>
        </p:nvSpPr>
        <p:spPr>
          <a:xfrm>
            <a:off x="5120640" y="1301651"/>
            <a:ext cx="3566100" cy="10974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73" name="Google Shape;173;p8"/>
          <p:cNvSpPr/>
          <p:nvPr/>
        </p:nvSpPr>
        <p:spPr>
          <a:xfrm>
            <a:off x="5120640" y="1347371"/>
            <a:ext cx="3566100" cy="658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4600"/>
              <a:buFont typeface="Calibri"/>
              <a:buNone/>
            </a:pPr>
            <a:r>
              <a:rPr b="1" i="0" lang="en-US" sz="4600" u="none" cap="none" strike="noStrike">
                <a:solidFill>
                  <a:srgbClr val="FFFFFF"/>
                </a:solidFill>
                <a:latin typeface="DM Sans"/>
                <a:ea typeface="DM Sans"/>
                <a:cs typeface="DM Sans"/>
                <a:sym typeface="DM Sans"/>
              </a:rPr>
              <a:t>61.4%</a:t>
            </a:r>
            <a:endParaRPr b="0" i="0" sz="4600" u="none" cap="none" strike="noStrike">
              <a:solidFill>
                <a:schemeClr val="dk1"/>
              </a:solidFill>
              <a:latin typeface="DM Sans"/>
              <a:ea typeface="DM Sans"/>
              <a:cs typeface="DM Sans"/>
              <a:sym typeface="DM Sans"/>
            </a:endParaRPr>
          </a:p>
        </p:txBody>
      </p:sp>
      <p:sp>
        <p:nvSpPr>
          <p:cNvPr id="174" name="Google Shape;174;p8"/>
          <p:cNvSpPr/>
          <p:nvPr/>
        </p:nvSpPr>
        <p:spPr>
          <a:xfrm>
            <a:off x="5120640" y="1960019"/>
            <a:ext cx="35661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F4F4F4"/>
                </a:solidFill>
                <a:latin typeface="DM Sans"/>
                <a:ea typeface="DM Sans"/>
                <a:cs typeface="DM Sans"/>
                <a:sym typeface="DM Sans"/>
              </a:rPr>
              <a:t>Test Accuracy</a:t>
            </a:r>
            <a:endParaRPr b="0" i="0" sz="1100" u="none" cap="none" strike="noStrike">
              <a:solidFill>
                <a:srgbClr val="F4F4F4"/>
              </a:solidFill>
              <a:latin typeface="DM Sans"/>
              <a:ea typeface="DM Sans"/>
              <a:cs typeface="DM Sans"/>
              <a:sym typeface="DM Sans"/>
            </a:endParaRPr>
          </a:p>
          <a:p>
            <a:pPr indent="0" lvl="0" marL="0" marR="0" rtl="0" algn="ctr">
              <a:lnSpc>
                <a:spcPct val="100000"/>
              </a:lnSpc>
              <a:spcBef>
                <a:spcPts val="0"/>
              </a:spcBef>
              <a:spcAft>
                <a:spcPts val="0"/>
              </a:spcAft>
              <a:buClr>
                <a:srgbClr val="CADCFC"/>
              </a:buClr>
              <a:buSzPts val="1100"/>
              <a:buFont typeface="Calibri"/>
              <a:buNone/>
            </a:pPr>
            <a:r>
              <a:rPr b="0" i="0" lang="en-US" sz="1100" u="none" cap="none" strike="noStrike">
                <a:solidFill>
                  <a:srgbClr val="F4F4F4"/>
                </a:solidFill>
                <a:latin typeface="DM Sans"/>
                <a:ea typeface="DM Sans"/>
                <a:cs typeface="DM Sans"/>
                <a:sym typeface="DM Sans"/>
              </a:rPr>
              <a:t>(vs. 33% random baseline)</a:t>
            </a:r>
            <a:endParaRPr b="0" i="0" sz="1100" u="none" cap="none" strike="noStrike">
              <a:solidFill>
                <a:srgbClr val="F4F4F4"/>
              </a:solidFill>
              <a:latin typeface="DM Sans"/>
              <a:ea typeface="DM Sans"/>
              <a:cs typeface="DM Sans"/>
              <a:sym typeface="DM Sans"/>
            </a:endParaRPr>
          </a:p>
        </p:txBody>
      </p:sp>
      <p:sp>
        <p:nvSpPr>
          <p:cNvPr id="175" name="Google Shape;175;p8"/>
          <p:cNvSpPr/>
          <p:nvPr/>
        </p:nvSpPr>
        <p:spPr>
          <a:xfrm>
            <a:off x="5120640" y="2453959"/>
            <a:ext cx="35661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008C8E"/>
                </a:solidFill>
                <a:latin typeface="DM Sans"/>
                <a:ea typeface="DM Sans"/>
                <a:cs typeface="DM Sans"/>
                <a:sym typeface="DM Sans"/>
              </a:rPr>
              <a:t>Per-Class Performance</a:t>
            </a:r>
            <a:endParaRPr b="0" i="0" sz="1300" u="none" cap="none" strike="noStrike">
              <a:solidFill>
                <a:srgbClr val="008C8E"/>
              </a:solidFill>
              <a:latin typeface="DM Sans"/>
              <a:ea typeface="DM Sans"/>
              <a:cs typeface="DM Sans"/>
              <a:sym typeface="DM Sans"/>
            </a:endParaRPr>
          </a:p>
        </p:txBody>
      </p:sp>
      <p:graphicFrame>
        <p:nvGraphicFramePr>
          <p:cNvPr id="176" name="Google Shape;176;p8"/>
          <p:cNvGraphicFramePr/>
          <p:nvPr/>
        </p:nvGraphicFramePr>
        <p:xfrm>
          <a:off x="5120640" y="2788920"/>
          <a:ext cx="3000000" cy="3000000"/>
        </p:xfrm>
        <a:graphic>
          <a:graphicData uri="http://schemas.openxmlformats.org/drawingml/2006/table">
            <a:tbl>
              <a:tblPr>
                <a:noFill/>
                <a:tableStyleId>{7967CA30-3D2C-4D44-877D-7B8A4AF049F4}</a:tableStyleId>
              </a:tblPr>
              <a:tblGrid>
                <a:gridCol w="1097275"/>
                <a:gridCol w="874425"/>
                <a:gridCol w="771475"/>
                <a:gridCol w="822950"/>
              </a:tblGrid>
              <a:tr h="365750">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latin typeface="DM Sans"/>
                          <a:ea typeface="DM Sans"/>
                          <a:cs typeface="DM Sans"/>
                          <a:sym typeface="DM Sans"/>
                        </a:rPr>
                        <a:t>Class</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8C8E"/>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latin typeface="DM Sans"/>
                          <a:ea typeface="DM Sans"/>
                          <a:cs typeface="DM Sans"/>
                          <a:sym typeface="DM Sans"/>
                        </a:rPr>
                        <a:t>Precision</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8C8E"/>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latin typeface="DM Sans"/>
                          <a:ea typeface="DM Sans"/>
                          <a:cs typeface="DM Sans"/>
                          <a:sym typeface="DM Sans"/>
                        </a:rPr>
                        <a:t>Recall</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8C8E"/>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latin typeface="DM Sans"/>
                          <a:ea typeface="DM Sans"/>
                          <a:cs typeface="DM Sans"/>
                          <a:sym typeface="DM Sans"/>
                        </a:rPr>
                        <a:t>F1</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008C8E"/>
                    </a:solidFill>
                  </a:tcPr>
                </a:tc>
              </a:tr>
              <a:tr h="36575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Center</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0.65</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0.52</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0.58</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r>
              <a:tr h="36575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Left</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0.62</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0.61</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0.61</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r>
              <a:tr h="36575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Right</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0.59</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0.70</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latin typeface="DM Sans"/>
                          <a:ea typeface="DM Sans"/>
                          <a:cs typeface="DM Sans"/>
                          <a:sym typeface="DM Sans"/>
                        </a:rPr>
                        <a:t>0.64</a:t>
                      </a:r>
                      <a:endParaRPr sz="1200" u="none" cap="none" strike="noStrike">
                        <a:latin typeface="DM Sans"/>
                        <a:ea typeface="DM Sans"/>
                        <a:cs typeface="DM Sans"/>
                        <a:sym typeface="DM Sans"/>
                      </a:endParaRPr>
                    </a:p>
                  </a:txBody>
                  <a:tcPr marT="45725" marB="45725" marR="91450" marL="91450">
                    <a:lnL cap="flat" cmpd="sng" w="9525">
                      <a:solidFill>
                        <a:srgbClr val="CBD5E1"/>
                      </a:solidFill>
                      <a:prstDash val="solid"/>
                      <a:round/>
                      <a:headEnd len="sm" w="sm" type="none"/>
                      <a:tailEnd len="sm" w="sm" type="none"/>
                    </a:lnL>
                    <a:lnR cap="flat" cmpd="sng" w="9525">
                      <a:solidFill>
                        <a:srgbClr val="CBD5E1"/>
                      </a:solidFill>
                      <a:prstDash val="solid"/>
                      <a:round/>
                      <a:headEnd len="sm" w="sm" type="none"/>
                      <a:tailEnd len="sm" w="sm" type="none"/>
                    </a:lnR>
                    <a:lnT cap="flat" cmpd="sng" w="9525">
                      <a:solidFill>
                        <a:srgbClr val="CBD5E1"/>
                      </a:solidFill>
                      <a:prstDash val="solid"/>
                      <a:round/>
                      <a:headEnd len="sm" w="sm" type="none"/>
                      <a:tailEnd len="sm" w="sm" type="none"/>
                    </a:lnT>
                    <a:lnB cap="flat" cmpd="sng" w="9525">
                      <a:solidFill>
                        <a:srgbClr val="CBD5E1"/>
                      </a:solidFill>
                      <a:prstDash val="solid"/>
                      <a:round/>
                      <a:headEnd len="sm" w="sm" type="none"/>
                      <a:tailEnd len="sm" w="sm" type="none"/>
                    </a:lnB>
                    <a:solidFill>
                      <a:srgbClr val="F4F6FB"/>
                    </a:solidFill>
                  </a:tcPr>
                </a:tc>
              </a:tr>
            </a:tbl>
          </a:graphicData>
        </a:graphic>
      </p:graphicFrame>
      <p:sp>
        <p:nvSpPr>
          <p:cNvPr id="177" name="Google Shape;177;p8"/>
          <p:cNvSpPr/>
          <p:nvPr/>
        </p:nvSpPr>
        <p:spPr>
          <a:xfrm>
            <a:off x="5120640" y="4343400"/>
            <a:ext cx="356616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1" lang="en-US" sz="1000" u="none" cap="none" strike="noStrike">
                <a:solidFill>
                  <a:srgbClr val="64748B"/>
                </a:solidFill>
                <a:latin typeface="DM Sans"/>
                <a:ea typeface="DM Sans"/>
                <a:cs typeface="DM Sans"/>
                <a:sym typeface="DM Sans"/>
              </a:rPr>
              <a:t>Center articles are hardest to classify — often confused with left or right. This makes linguistic sense: centrist writing shares vocabulary with both poles.</a:t>
            </a:r>
            <a:endParaRPr b="0" i="0" sz="1000" u="none" cap="none" strike="noStrike">
              <a:solidFill>
                <a:schemeClr val="dk1"/>
              </a:solidFill>
              <a:latin typeface="DM Sans"/>
              <a:ea typeface="DM Sans"/>
              <a:cs typeface="DM Sans"/>
              <a:sym typeface="DM Sans"/>
            </a:endParaRPr>
          </a:p>
        </p:txBody>
      </p:sp>
      <p:pic>
        <p:nvPicPr>
          <p:cNvPr id="178" name="Google Shape;178;p8"/>
          <p:cNvPicPr preferRelativeResize="0"/>
          <p:nvPr/>
        </p:nvPicPr>
        <p:blipFill rotWithShape="1">
          <a:blip r:embed="rId3">
            <a:alphaModFix/>
          </a:blip>
          <a:srcRect b="0" l="0" r="0" t="0"/>
          <a:stretch/>
        </p:blipFill>
        <p:spPr>
          <a:xfrm>
            <a:off x="244798" y="1085417"/>
            <a:ext cx="4762384" cy="37414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9"/>
          <p:cNvSpPr/>
          <p:nvPr/>
        </p:nvSpPr>
        <p:spPr>
          <a:xfrm>
            <a:off x="457200" y="182880"/>
            <a:ext cx="8229600" cy="42044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400" u="none" cap="none" strike="noStrike">
                <a:solidFill>
                  <a:srgbClr val="008C8E"/>
                </a:solidFill>
                <a:latin typeface="DM Sans"/>
                <a:ea typeface="DM Sans"/>
                <a:cs typeface="DM Sans"/>
                <a:sym typeface="DM Sans"/>
              </a:rPr>
              <a:t>Applying the Baseline Model to Real-World Articles</a:t>
            </a:r>
            <a:endParaRPr b="0" i="0" sz="2400" u="none" cap="none" strike="noStrike">
              <a:solidFill>
                <a:srgbClr val="008C8E"/>
              </a:solidFill>
              <a:latin typeface="DM Sans"/>
              <a:ea typeface="DM Sans"/>
              <a:cs typeface="DM Sans"/>
              <a:sym typeface="DM Sans"/>
            </a:endParaRPr>
          </a:p>
        </p:txBody>
      </p:sp>
      <p:sp>
        <p:nvSpPr>
          <p:cNvPr id="185" name="Google Shape;185;p9"/>
          <p:cNvSpPr/>
          <p:nvPr/>
        </p:nvSpPr>
        <p:spPr>
          <a:xfrm>
            <a:off x="457200" y="594123"/>
            <a:ext cx="8229600" cy="16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Calibri"/>
              <a:buNone/>
            </a:pPr>
            <a:r>
              <a:rPr b="0" i="0" lang="en-US" sz="1400" u="none" cap="none" strike="noStrike">
                <a:solidFill>
                  <a:srgbClr val="6C6C6C"/>
                </a:solidFill>
                <a:latin typeface="DM Sans"/>
                <a:ea typeface="DM Sans"/>
                <a:cs typeface="DM Sans"/>
                <a:sym typeface="DM Sans"/>
              </a:rPr>
              <a:t>1,990 freshly scraped articles</a:t>
            </a:r>
            <a:endParaRPr b="0" i="0" sz="1400" u="none" cap="none" strike="noStrike">
              <a:solidFill>
                <a:srgbClr val="6C6C6C"/>
              </a:solidFill>
              <a:latin typeface="DM Sans"/>
              <a:ea typeface="DM Sans"/>
              <a:cs typeface="DM Sans"/>
              <a:sym typeface="DM Sans"/>
            </a:endParaRPr>
          </a:p>
        </p:txBody>
      </p:sp>
      <p:sp>
        <p:nvSpPr>
          <p:cNvPr id="186" name="Google Shape;186;p9"/>
          <p:cNvSpPr/>
          <p:nvPr/>
        </p:nvSpPr>
        <p:spPr>
          <a:xfrm>
            <a:off x="457200" y="859472"/>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87" name="Google Shape;187;p9"/>
          <p:cNvSpPr/>
          <p:nvPr/>
        </p:nvSpPr>
        <p:spPr>
          <a:xfrm>
            <a:off x="457200" y="1234440"/>
            <a:ext cx="1188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BBC</a:t>
            </a:r>
            <a:endParaRPr b="0" i="0" sz="1300" u="none" cap="none" strike="noStrike">
              <a:solidFill>
                <a:schemeClr val="dk1"/>
              </a:solidFill>
              <a:latin typeface="DM Sans"/>
              <a:ea typeface="DM Sans"/>
              <a:cs typeface="DM Sans"/>
              <a:sym typeface="DM Sans"/>
            </a:endParaRPr>
          </a:p>
        </p:txBody>
      </p:sp>
      <p:sp>
        <p:nvSpPr>
          <p:cNvPr id="188" name="Google Shape;188;p9"/>
          <p:cNvSpPr/>
          <p:nvPr/>
        </p:nvSpPr>
        <p:spPr>
          <a:xfrm>
            <a:off x="948978" y="1330518"/>
            <a:ext cx="2926200" cy="2742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89" name="Google Shape;189;p9"/>
          <p:cNvSpPr/>
          <p:nvPr/>
        </p:nvSpPr>
        <p:spPr>
          <a:xfrm>
            <a:off x="4020735" y="1307592"/>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C6C6C"/>
                </a:solidFill>
                <a:latin typeface="DM Sans"/>
                <a:ea typeface="DM Sans"/>
                <a:cs typeface="DM Sans"/>
                <a:sym typeface="DM Sans"/>
              </a:rPr>
              <a:t>727</a:t>
            </a:r>
            <a:endParaRPr b="0" i="0" sz="1100" u="none" cap="none" strike="noStrike">
              <a:solidFill>
                <a:srgbClr val="6C6C6C"/>
              </a:solidFill>
              <a:latin typeface="DM Sans"/>
              <a:ea typeface="DM Sans"/>
              <a:cs typeface="DM Sans"/>
              <a:sym typeface="DM Sans"/>
            </a:endParaRPr>
          </a:p>
        </p:txBody>
      </p:sp>
      <p:sp>
        <p:nvSpPr>
          <p:cNvPr id="190" name="Google Shape;190;p9"/>
          <p:cNvSpPr/>
          <p:nvPr/>
        </p:nvSpPr>
        <p:spPr>
          <a:xfrm>
            <a:off x="457200" y="1892808"/>
            <a:ext cx="1188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ABC</a:t>
            </a:r>
            <a:endParaRPr b="0" i="0" sz="1300" u="none" cap="none" strike="noStrike">
              <a:solidFill>
                <a:schemeClr val="dk1"/>
              </a:solidFill>
              <a:latin typeface="DM Sans"/>
              <a:ea typeface="DM Sans"/>
              <a:cs typeface="DM Sans"/>
              <a:sym typeface="DM Sans"/>
            </a:endParaRPr>
          </a:p>
        </p:txBody>
      </p:sp>
      <p:sp>
        <p:nvSpPr>
          <p:cNvPr id="191" name="Google Shape;191;p9"/>
          <p:cNvSpPr/>
          <p:nvPr/>
        </p:nvSpPr>
        <p:spPr>
          <a:xfrm>
            <a:off x="948965" y="1984248"/>
            <a:ext cx="1678500" cy="2742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92" name="Google Shape;192;p9"/>
          <p:cNvSpPr/>
          <p:nvPr/>
        </p:nvSpPr>
        <p:spPr>
          <a:xfrm>
            <a:off x="2814751" y="1965973"/>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C6C6C"/>
                </a:solidFill>
                <a:latin typeface="DM Sans"/>
                <a:ea typeface="DM Sans"/>
                <a:cs typeface="DM Sans"/>
                <a:sym typeface="DM Sans"/>
              </a:rPr>
              <a:t>417</a:t>
            </a:r>
            <a:endParaRPr b="0" i="0" sz="1100" u="none" cap="none" strike="noStrike">
              <a:solidFill>
                <a:srgbClr val="6C6C6C"/>
              </a:solidFill>
              <a:latin typeface="DM Sans"/>
              <a:ea typeface="DM Sans"/>
              <a:cs typeface="DM Sans"/>
              <a:sym typeface="DM Sans"/>
            </a:endParaRPr>
          </a:p>
        </p:txBody>
      </p:sp>
      <p:sp>
        <p:nvSpPr>
          <p:cNvPr id="193" name="Google Shape;193;p9"/>
          <p:cNvSpPr/>
          <p:nvPr/>
        </p:nvSpPr>
        <p:spPr>
          <a:xfrm>
            <a:off x="457200" y="2551176"/>
            <a:ext cx="1188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CBC</a:t>
            </a:r>
            <a:endParaRPr b="0" i="0" sz="1300" u="none" cap="none" strike="noStrike">
              <a:solidFill>
                <a:schemeClr val="dk1"/>
              </a:solidFill>
              <a:latin typeface="DM Sans"/>
              <a:ea typeface="DM Sans"/>
              <a:cs typeface="DM Sans"/>
              <a:sym typeface="DM Sans"/>
            </a:endParaRPr>
          </a:p>
        </p:txBody>
      </p:sp>
      <p:sp>
        <p:nvSpPr>
          <p:cNvPr id="194" name="Google Shape;194;p9"/>
          <p:cNvSpPr/>
          <p:nvPr/>
        </p:nvSpPr>
        <p:spPr>
          <a:xfrm>
            <a:off x="948965" y="2660841"/>
            <a:ext cx="1155000" cy="2742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95" name="Google Shape;195;p9"/>
          <p:cNvSpPr/>
          <p:nvPr/>
        </p:nvSpPr>
        <p:spPr>
          <a:xfrm>
            <a:off x="2246392" y="2651716"/>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C6C6C"/>
                </a:solidFill>
                <a:latin typeface="DM Sans"/>
                <a:ea typeface="DM Sans"/>
                <a:cs typeface="DM Sans"/>
                <a:sym typeface="DM Sans"/>
              </a:rPr>
              <a:t>287</a:t>
            </a:r>
            <a:endParaRPr b="0" i="0" sz="1100" u="none" cap="none" strike="noStrike">
              <a:solidFill>
                <a:srgbClr val="6C6C6C"/>
              </a:solidFill>
              <a:latin typeface="DM Sans"/>
              <a:ea typeface="DM Sans"/>
              <a:cs typeface="DM Sans"/>
              <a:sym typeface="DM Sans"/>
            </a:endParaRPr>
          </a:p>
        </p:txBody>
      </p:sp>
      <p:sp>
        <p:nvSpPr>
          <p:cNvPr id="196" name="Google Shape;196;p9"/>
          <p:cNvSpPr/>
          <p:nvPr/>
        </p:nvSpPr>
        <p:spPr>
          <a:xfrm>
            <a:off x="5386528" y="1239015"/>
            <a:ext cx="1188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FOX</a:t>
            </a:r>
            <a:endParaRPr b="0" i="0" sz="1300" u="none" cap="none" strike="noStrike">
              <a:solidFill>
                <a:schemeClr val="dk1"/>
              </a:solidFill>
              <a:latin typeface="DM Sans"/>
              <a:ea typeface="DM Sans"/>
              <a:cs typeface="DM Sans"/>
              <a:sym typeface="DM Sans"/>
            </a:endParaRPr>
          </a:p>
        </p:txBody>
      </p:sp>
      <p:sp>
        <p:nvSpPr>
          <p:cNvPr id="197" name="Google Shape;197;p9"/>
          <p:cNvSpPr/>
          <p:nvPr/>
        </p:nvSpPr>
        <p:spPr>
          <a:xfrm>
            <a:off x="6040755" y="1325880"/>
            <a:ext cx="1042500" cy="2742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198" name="Google Shape;198;p9"/>
          <p:cNvSpPr/>
          <p:nvPr/>
        </p:nvSpPr>
        <p:spPr>
          <a:xfrm>
            <a:off x="7174636" y="1307592"/>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C6C6C"/>
                </a:solidFill>
                <a:latin typeface="DM Sans"/>
                <a:ea typeface="DM Sans"/>
                <a:cs typeface="DM Sans"/>
                <a:sym typeface="DM Sans"/>
              </a:rPr>
              <a:t>259</a:t>
            </a:r>
            <a:endParaRPr b="0" i="0" sz="1100" u="none" cap="none" strike="noStrike">
              <a:solidFill>
                <a:srgbClr val="6C6C6C"/>
              </a:solidFill>
              <a:latin typeface="DM Sans"/>
              <a:ea typeface="DM Sans"/>
              <a:cs typeface="DM Sans"/>
              <a:sym typeface="DM Sans"/>
            </a:endParaRPr>
          </a:p>
        </p:txBody>
      </p:sp>
      <p:sp>
        <p:nvSpPr>
          <p:cNvPr id="199" name="Google Shape;199;p9"/>
          <p:cNvSpPr/>
          <p:nvPr/>
        </p:nvSpPr>
        <p:spPr>
          <a:xfrm>
            <a:off x="4889040" y="1895108"/>
            <a:ext cx="1188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Al Jazeera</a:t>
            </a:r>
            <a:endParaRPr b="0" i="0" sz="1300" u="none" cap="none" strike="noStrike">
              <a:solidFill>
                <a:schemeClr val="dk1"/>
              </a:solidFill>
              <a:latin typeface="DM Sans"/>
              <a:ea typeface="DM Sans"/>
              <a:cs typeface="DM Sans"/>
              <a:sym typeface="DM Sans"/>
            </a:endParaRPr>
          </a:p>
        </p:txBody>
      </p:sp>
      <p:sp>
        <p:nvSpPr>
          <p:cNvPr id="200" name="Google Shape;200;p9"/>
          <p:cNvSpPr/>
          <p:nvPr/>
        </p:nvSpPr>
        <p:spPr>
          <a:xfrm>
            <a:off x="6040755" y="1984248"/>
            <a:ext cx="885600" cy="2742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201" name="Google Shape;201;p9"/>
          <p:cNvSpPr/>
          <p:nvPr/>
        </p:nvSpPr>
        <p:spPr>
          <a:xfrm>
            <a:off x="7017666" y="1965960"/>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C6C6C"/>
                </a:solidFill>
                <a:latin typeface="DM Sans"/>
                <a:ea typeface="DM Sans"/>
                <a:cs typeface="DM Sans"/>
                <a:sym typeface="DM Sans"/>
              </a:rPr>
              <a:t>220</a:t>
            </a:r>
            <a:endParaRPr b="0" i="0" sz="1100" u="none" cap="none" strike="noStrike">
              <a:solidFill>
                <a:srgbClr val="6C6C6C"/>
              </a:solidFill>
              <a:latin typeface="DM Sans"/>
              <a:ea typeface="DM Sans"/>
              <a:cs typeface="DM Sans"/>
              <a:sym typeface="DM Sans"/>
            </a:endParaRPr>
          </a:p>
        </p:txBody>
      </p:sp>
      <p:sp>
        <p:nvSpPr>
          <p:cNvPr id="202" name="Google Shape;202;p9"/>
          <p:cNvSpPr/>
          <p:nvPr/>
        </p:nvSpPr>
        <p:spPr>
          <a:xfrm>
            <a:off x="5412165" y="2569464"/>
            <a:ext cx="1188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NPR</a:t>
            </a:r>
            <a:endParaRPr b="0" i="0" sz="1300" u="none" cap="none" strike="noStrike">
              <a:solidFill>
                <a:schemeClr val="dk1"/>
              </a:solidFill>
              <a:latin typeface="DM Sans"/>
              <a:ea typeface="DM Sans"/>
              <a:cs typeface="DM Sans"/>
              <a:sym typeface="DM Sans"/>
            </a:endParaRPr>
          </a:p>
        </p:txBody>
      </p:sp>
      <p:sp>
        <p:nvSpPr>
          <p:cNvPr id="203" name="Google Shape;203;p9"/>
          <p:cNvSpPr/>
          <p:nvPr/>
        </p:nvSpPr>
        <p:spPr>
          <a:xfrm>
            <a:off x="6040755" y="2642616"/>
            <a:ext cx="321900" cy="2742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204" name="Google Shape;204;p9"/>
          <p:cNvSpPr/>
          <p:nvPr/>
        </p:nvSpPr>
        <p:spPr>
          <a:xfrm>
            <a:off x="6454185" y="2624328"/>
            <a:ext cx="6402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C6C6C"/>
                </a:solidFill>
                <a:latin typeface="DM Sans"/>
                <a:ea typeface="DM Sans"/>
                <a:cs typeface="DM Sans"/>
                <a:sym typeface="DM Sans"/>
              </a:rPr>
              <a:t>80</a:t>
            </a:r>
            <a:endParaRPr b="0" i="0" sz="1100" u="none" cap="none" strike="noStrike">
              <a:solidFill>
                <a:srgbClr val="6C6C6C"/>
              </a:solidFill>
              <a:latin typeface="DM Sans"/>
              <a:ea typeface="DM Sans"/>
              <a:cs typeface="DM Sans"/>
              <a:sym typeface="DM Sans"/>
            </a:endParaRPr>
          </a:p>
        </p:txBody>
      </p:sp>
      <p:sp>
        <p:nvSpPr>
          <p:cNvPr id="205" name="Google Shape;205;p9"/>
          <p:cNvSpPr/>
          <p:nvPr/>
        </p:nvSpPr>
        <p:spPr>
          <a:xfrm>
            <a:off x="457200" y="3337560"/>
            <a:ext cx="8229600" cy="1508760"/>
          </a:xfrm>
          <a:prstGeom prst="rect">
            <a:avLst/>
          </a:prstGeom>
          <a:solidFill>
            <a:srgbClr val="F4F4F4"/>
          </a:solidFill>
          <a:ln cap="flat" cmpd="sng" w="12700">
            <a:solidFill>
              <a:srgbClr val="F4F6F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206" name="Google Shape;206;p9"/>
          <p:cNvSpPr/>
          <p:nvPr/>
        </p:nvSpPr>
        <p:spPr>
          <a:xfrm>
            <a:off x="640080" y="3401568"/>
            <a:ext cx="786384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Out-of-Sample Prediction Summary</a:t>
            </a:r>
            <a:endParaRPr b="0" i="0" sz="1300" u="none" cap="none" strike="noStrike">
              <a:solidFill>
                <a:schemeClr val="dk1"/>
              </a:solidFill>
              <a:latin typeface="DM Sans"/>
              <a:ea typeface="DM Sans"/>
              <a:cs typeface="DM Sans"/>
              <a:sym typeface="DM Sans"/>
            </a:endParaRPr>
          </a:p>
        </p:txBody>
      </p:sp>
      <p:sp>
        <p:nvSpPr>
          <p:cNvPr id="207" name="Google Shape;207;p9"/>
          <p:cNvSpPr/>
          <p:nvPr/>
        </p:nvSpPr>
        <p:spPr>
          <a:xfrm>
            <a:off x="640080" y="3776472"/>
            <a:ext cx="2560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Center predicted:  </a:t>
            </a:r>
            <a:endParaRPr b="0" i="0" sz="1100" u="none" cap="none" strike="noStrike">
              <a:solidFill>
                <a:schemeClr val="dk1"/>
              </a:solidFill>
              <a:latin typeface="DM Sans"/>
              <a:ea typeface="DM Sans"/>
              <a:cs typeface="DM Sans"/>
              <a:sym typeface="DM Sans"/>
            </a:endParaRPr>
          </a:p>
        </p:txBody>
      </p:sp>
      <p:sp>
        <p:nvSpPr>
          <p:cNvPr id="208" name="Google Shape;208;p9"/>
          <p:cNvSpPr/>
          <p:nvPr/>
        </p:nvSpPr>
        <p:spPr>
          <a:xfrm>
            <a:off x="3246120" y="3776472"/>
            <a:ext cx="1280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i="0" lang="en-US" sz="1200" u="none" cap="none" strike="noStrike">
                <a:solidFill>
                  <a:srgbClr val="1E2761"/>
                </a:solidFill>
                <a:latin typeface="DM Sans"/>
                <a:ea typeface="DM Sans"/>
                <a:cs typeface="DM Sans"/>
                <a:sym typeface="DM Sans"/>
              </a:rPr>
              <a:t>49.9%</a:t>
            </a:r>
            <a:endParaRPr b="0" i="0" sz="1200" u="none" cap="none" strike="noStrike">
              <a:solidFill>
                <a:schemeClr val="dk1"/>
              </a:solidFill>
              <a:latin typeface="DM Sans"/>
              <a:ea typeface="DM Sans"/>
              <a:cs typeface="DM Sans"/>
              <a:sym typeface="DM Sans"/>
            </a:endParaRPr>
          </a:p>
        </p:txBody>
      </p:sp>
      <p:sp>
        <p:nvSpPr>
          <p:cNvPr id="209" name="Google Shape;209;p9"/>
          <p:cNvSpPr/>
          <p:nvPr/>
        </p:nvSpPr>
        <p:spPr>
          <a:xfrm>
            <a:off x="640080" y="4123944"/>
            <a:ext cx="2560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Left predicted:  </a:t>
            </a:r>
            <a:endParaRPr b="0" i="0" sz="1100" u="none" cap="none" strike="noStrike">
              <a:solidFill>
                <a:schemeClr val="dk1"/>
              </a:solidFill>
              <a:latin typeface="DM Sans"/>
              <a:ea typeface="DM Sans"/>
              <a:cs typeface="DM Sans"/>
              <a:sym typeface="DM Sans"/>
            </a:endParaRPr>
          </a:p>
        </p:txBody>
      </p:sp>
      <p:sp>
        <p:nvSpPr>
          <p:cNvPr id="210" name="Google Shape;210;p9"/>
          <p:cNvSpPr/>
          <p:nvPr/>
        </p:nvSpPr>
        <p:spPr>
          <a:xfrm>
            <a:off x="3246120" y="4123944"/>
            <a:ext cx="1280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i="0" lang="en-US" sz="1200" u="none" cap="none" strike="noStrike">
                <a:solidFill>
                  <a:srgbClr val="1E2761"/>
                </a:solidFill>
                <a:latin typeface="DM Sans"/>
                <a:ea typeface="DM Sans"/>
                <a:cs typeface="DM Sans"/>
                <a:sym typeface="DM Sans"/>
              </a:rPr>
              <a:t>31.9%</a:t>
            </a:r>
            <a:endParaRPr b="0" i="0" sz="1200" u="none" cap="none" strike="noStrike">
              <a:solidFill>
                <a:schemeClr val="dk1"/>
              </a:solidFill>
              <a:latin typeface="DM Sans"/>
              <a:ea typeface="DM Sans"/>
              <a:cs typeface="DM Sans"/>
              <a:sym typeface="DM Sans"/>
            </a:endParaRPr>
          </a:p>
        </p:txBody>
      </p:sp>
      <p:sp>
        <p:nvSpPr>
          <p:cNvPr id="211" name="Google Shape;211;p9"/>
          <p:cNvSpPr/>
          <p:nvPr/>
        </p:nvSpPr>
        <p:spPr>
          <a:xfrm>
            <a:off x="640080" y="4471416"/>
            <a:ext cx="2560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Right predicted:  </a:t>
            </a:r>
            <a:endParaRPr b="0" i="0" sz="1100" u="none" cap="none" strike="noStrike">
              <a:solidFill>
                <a:schemeClr val="dk1"/>
              </a:solidFill>
              <a:latin typeface="DM Sans"/>
              <a:ea typeface="DM Sans"/>
              <a:cs typeface="DM Sans"/>
              <a:sym typeface="DM Sans"/>
            </a:endParaRPr>
          </a:p>
        </p:txBody>
      </p:sp>
      <p:sp>
        <p:nvSpPr>
          <p:cNvPr id="212" name="Google Shape;212;p9"/>
          <p:cNvSpPr/>
          <p:nvPr/>
        </p:nvSpPr>
        <p:spPr>
          <a:xfrm>
            <a:off x="3246120" y="4471416"/>
            <a:ext cx="1280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i="0" lang="en-US" sz="1200" u="none" cap="none" strike="noStrike">
                <a:solidFill>
                  <a:srgbClr val="1E2761"/>
                </a:solidFill>
                <a:latin typeface="DM Sans"/>
                <a:ea typeface="DM Sans"/>
                <a:cs typeface="DM Sans"/>
                <a:sym typeface="DM Sans"/>
              </a:rPr>
              <a:t>18.2%</a:t>
            </a:r>
            <a:endParaRPr b="0" i="0" sz="1200" u="none" cap="none" strike="noStrike">
              <a:solidFill>
                <a:schemeClr val="dk1"/>
              </a:solidFill>
              <a:latin typeface="DM Sans"/>
              <a:ea typeface="DM Sans"/>
              <a:cs typeface="DM Sans"/>
              <a:sym typeface="DM Sans"/>
            </a:endParaRPr>
          </a:p>
        </p:txBody>
      </p:sp>
      <p:sp>
        <p:nvSpPr>
          <p:cNvPr id="213" name="Google Shape;213;p9"/>
          <p:cNvSpPr/>
          <p:nvPr/>
        </p:nvSpPr>
        <p:spPr>
          <a:xfrm>
            <a:off x="4754880" y="3776472"/>
            <a:ext cx="2560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Avg confidence:  </a:t>
            </a:r>
            <a:endParaRPr b="0" i="0" sz="1100" u="none" cap="none" strike="noStrike">
              <a:solidFill>
                <a:schemeClr val="dk1"/>
              </a:solidFill>
              <a:latin typeface="DM Sans"/>
              <a:ea typeface="DM Sans"/>
              <a:cs typeface="DM Sans"/>
              <a:sym typeface="DM Sans"/>
            </a:endParaRPr>
          </a:p>
        </p:txBody>
      </p:sp>
      <p:sp>
        <p:nvSpPr>
          <p:cNvPr id="214" name="Google Shape;214;p9"/>
          <p:cNvSpPr/>
          <p:nvPr/>
        </p:nvSpPr>
        <p:spPr>
          <a:xfrm>
            <a:off x="7360920" y="3776472"/>
            <a:ext cx="1280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i="0" lang="en-US" sz="1200" u="none" cap="none" strike="noStrike">
                <a:solidFill>
                  <a:srgbClr val="1E2761"/>
                </a:solidFill>
                <a:latin typeface="DM Sans"/>
                <a:ea typeface="DM Sans"/>
                <a:cs typeface="DM Sans"/>
                <a:sym typeface="DM Sans"/>
              </a:rPr>
              <a:t>64.5%</a:t>
            </a:r>
            <a:endParaRPr b="0" i="0" sz="1200" u="none" cap="none" strike="noStrike">
              <a:solidFill>
                <a:schemeClr val="dk1"/>
              </a:solidFill>
              <a:latin typeface="DM Sans"/>
              <a:ea typeface="DM Sans"/>
              <a:cs typeface="DM Sans"/>
              <a:sym typeface="DM Sans"/>
            </a:endParaRPr>
          </a:p>
        </p:txBody>
      </p:sp>
      <p:sp>
        <p:nvSpPr>
          <p:cNvPr id="215" name="Google Shape;215;p9"/>
          <p:cNvSpPr/>
          <p:nvPr/>
        </p:nvSpPr>
        <p:spPr>
          <a:xfrm>
            <a:off x="4754880" y="4123944"/>
            <a:ext cx="2560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Articles &lt; 0.5 confidence:  </a:t>
            </a:r>
            <a:endParaRPr b="0" i="0" sz="1100" u="none" cap="none" strike="noStrike">
              <a:solidFill>
                <a:schemeClr val="dk1"/>
              </a:solidFill>
              <a:latin typeface="DM Sans"/>
              <a:ea typeface="DM Sans"/>
              <a:cs typeface="DM Sans"/>
              <a:sym typeface="DM Sans"/>
            </a:endParaRPr>
          </a:p>
        </p:txBody>
      </p:sp>
      <p:sp>
        <p:nvSpPr>
          <p:cNvPr id="216" name="Google Shape;216;p9"/>
          <p:cNvSpPr/>
          <p:nvPr/>
        </p:nvSpPr>
        <p:spPr>
          <a:xfrm>
            <a:off x="7360920" y="4123944"/>
            <a:ext cx="1280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200"/>
              <a:buFont typeface="Calibri"/>
              <a:buNone/>
            </a:pPr>
            <a:r>
              <a:rPr b="1" i="0" lang="en-US" sz="1200" u="none" cap="none" strike="noStrike">
                <a:solidFill>
                  <a:srgbClr val="1E2761"/>
                </a:solidFill>
                <a:latin typeface="DM Sans"/>
                <a:ea typeface="DM Sans"/>
                <a:cs typeface="DM Sans"/>
                <a:sym typeface="DM Sans"/>
              </a:rPr>
              <a:t>~28%</a:t>
            </a:r>
            <a:endParaRPr b="0" i="0" sz="1200" u="none" cap="none" strike="noStrike">
              <a:solidFill>
                <a:schemeClr val="dk1"/>
              </a:solidFill>
              <a:latin typeface="DM Sans"/>
              <a:ea typeface="DM Sans"/>
              <a:cs typeface="DM Sans"/>
              <a:sym typeface="DM Sans"/>
            </a:endParaRPr>
          </a:p>
        </p:txBody>
      </p:sp>
      <p:sp>
        <p:nvSpPr>
          <p:cNvPr id="217" name="Google Shape;217;p9"/>
          <p:cNvSpPr/>
          <p:nvPr/>
        </p:nvSpPr>
        <p:spPr>
          <a:xfrm>
            <a:off x="251759" y="4872421"/>
            <a:ext cx="82296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1000"/>
              <a:buFont typeface="Calibri"/>
              <a:buNone/>
            </a:pPr>
            <a:r>
              <a:rPr b="0" i="1" lang="en-US" sz="1000" u="none" cap="none" strike="noStrike">
                <a:solidFill>
                  <a:srgbClr val="64748B"/>
                </a:solidFill>
                <a:latin typeface="DM Sans"/>
                <a:ea typeface="DM Sans"/>
                <a:cs typeface="DM Sans"/>
                <a:sym typeface="DM Sans"/>
              </a:rPr>
              <a:t>Shift toward center vs. balanced training data — consistent with sources being broadly centrist on the Media Bias Chart.</a:t>
            </a:r>
            <a:endParaRPr b="0" i="0" sz="1000" u="none" cap="none" strike="noStrike">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10"/>
          <p:cNvSpPr/>
          <p:nvPr/>
        </p:nvSpPr>
        <p:spPr>
          <a:xfrm>
            <a:off x="457200" y="18288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Key Result: Predictions by Source</a:t>
            </a:r>
            <a:endParaRPr b="0" i="0" sz="2800" u="none" cap="none" strike="noStrike">
              <a:solidFill>
                <a:srgbClr val="008C8E"/>
              </a:solidFill>
              <a:latin typeface="DM Sans"/>
              <a:ea typeface="DM Sans"/>
              <a:cs typeface="DM Sans"/>
              <a:sym typeface="DM Sans"/>
            </a:endParaRPr>
          </a:p>
        </p:txBody>
      </p:sp>
      <p:sp>
        <p:nvSpPr>
          <p:cNvPr id="224" name="Google Shape;224;p10"/>
          <p:cNvSpPr/>
          <p:nvPr/>
        </p:nvSpPr>
        <p:spPr>
          <a:xfrm>
            <a:off x="457200" y="777240"/>
            <a:ext cx="7721194"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rgbClr val="6C6C6C"/>
                </a:solidFill>
                <a:latin typeface="DM Sans"/>
                <a:ea typeface="DM Sans"/>
                <a:cs typeface="DM Sans"/>
                <a:sym typeface="DM Sans"/>
              </a:rPr>
              <a:t>Baseline LSTM predictions: where the baseline model succeeds and where it reveals its limits</a:t>
            </a:r>
            <a:endParaRPr b="0" i="0" sz="1400" u="none" cap="none" strike="noStrike">
              <a:solidFill>
                <a:srgbClr val="6C6C6C"/>
              </a:solidFill>
              <a:latin typeface="DM Sans"/>
              <a:ea typeface="DM Sans"/>
              <a:cs typeface="DM Sans"/>
              <a:sym typeface="DM Sans"/>
            </a:endParaRPr>
          </a:p>
        </p:txBody>
      </p:sp>
      <p:sp>
        <p:nvSpPr>
          <p:cNvPr id="225" name="Google Shape;225;p10"/>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226" name="Google Shape;226;p10"/>
          <p:cNvSpPr/>
          <p:nvPr/>
        </p:nvSpPr>
        <p:spPr>
          <a:xfrm>
            <a:off x="6277950" y="1223200"/>
            <a:ext cx="2317200" cy="960000"/>
          </a:xfrm>
          <a:prstGeom prst="rect">
            <a:avLst/>
          </a:prstGeom>
          <a:solidFill>
            <a:srgbClr val="FEF2F2"/>
          </a:solidFill>
          <a:ln cap="flat" cmpd="sng" w="19050">
            <a:solidFill>
              <a:srgbClr val="DC262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227" name="Google Shape;227;p10"/>
          <p:cNvSpPr/>
          <p:nvPr/>
        </p:nvSpPr>
        <p:spPr>
          <a:xfrm>
            <a:off x="6388804" y="1316334"/>
            <a:ext cx="208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200"/>
              <a:buFont typeface="Calibri"/>
              <a:buNone/>
            </a:pPr>
            <a:r>
              <a:rPr b="1" i="0" lang="en-US" sz="1200" u="none" cap="none" strike="noStrike">
                <a:solidFill>
                  <a:srgbClr val="DC2626"/>
                </a:solidFill>
                <a:latin typeface="DM Sans"/>
                <a:ea typeface="DM Sans"/>
                <a:cs typeface="DM Sans"/>
                <a:sym typeface="DM Sans"/>
              </a:rPr>
              <a:t>FOX Misclassification</a:t>
            </a:r>
            <a:endParaRPr b="0" i="0" sz="1200" u="none" cap="none" strike="noStrike">
              <a:solidFill>
                <a:schemeClr val="dk1"/>
              </a:solidFill>
              <a:latin typeface="DM Sans"/>
              <a:ea typeface="DM Sans"/>
              <a:cs typeface="DM Sans"/>
              <a:sym typeface="DM Sans"/>
            </a:endParaRPr>
          </a:p>
        </p:txBody>
      </p:sp>
      <p:sp>
        <p:nvSpPr>
          <p:cNvPr id="228" name="Google Shape;228;p10"/>
          <p:cNvSpPr/>
          <p:nvPr/>
        </p:nvSpPr>
        <p:spPr>
          <a:xfrm>
            <a:off x="6388804" y="1577670"/>
            <a:ext cx="1972500" cy="48213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133 articles predicted LEFT</a:t>
            </a:r>
            <a:endParaRPr b="0" i="0" sz="110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30 articles predicted RIGHT</a:t>
            </a:r>
            <a:endParaRPr b="0" i="0" sz="1100" u="none" cap="none" strike="noStrike">
              <a:solidFill>
                <a:schemeClr val="dk1"/>
              </a:solidFill>
              <a:latin typeface="DM Sans"/>
              <a:ea typeface="DM Sans"/>
              <a:cs typeface="DM Sans"/>
              <a:sym typeface="DM Sans"/>
            </a:endParaRPr>
          </a:p>
        </p:txBody>
      </p:sp>
      <p:sp>
        <p:nvSpPr>
          <p:cNvPr id="229" name="Google Shape;229;p10"/>
          <p:cNvSpPr/>
          <p:nvPr/>
        </p:nvSpPr>
        <p:spPr>
          <a:xfrm>
            <a:off x="6277950" y="3082213"/>
            <a:ext cx="2317200" cy="960000"/>
          </a:xfrm>
          <a:prstGeom prst="rect">
            <a:avLst/>
          </a:prstGeom>
          <a:solidFill>
            <a:srgbClr val="F0FDF4"/>
          </a:solidFill>
          <a:ln cap="flat" cmpd="sng" w="19050">
            <a:solidFill>
              <a:srgbClr val="15803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230" name="Google Shape;230;p10"/>
          <p:cNvSpPr/>
          <p:nvPr/>
        </p:nvSpPr>
        <p:spPr>
          <a:xfrm>
            <a:off x="6340950" y="3161450"/>
            <a:ext cx="2191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200"/>
              <a:buFont typeface="Calibri"/>
              <a:buNone/>
            </a:pPr>
            <a:r>
              <a:rPr b="1" i="0" lang="en-US" sz="1200" u="none" cap="none" strike="noStrike">
                <a:solidFill>
                  <a:srgbClr val="15803D"/>
                </a:solidFill>
                <a:latin typeface="DM Sans"/>
                <a:ea typeface="DM Sans"/>
                <a:cs typeface="DM Sans"/>
                <a:sym typeface="DM Sans"/>
              </a:rPr>
              <a:t>NPR Expected Uncertainty</a:t>
            </a:r>
            <a:endParaRPr b="0" i="0" sz="1200" u="none" cap="none" strike="noStrike">
              <a:solidFill>
                <a:schemeClr val="dk1"/>
              </a:solidFill>
              <a:latin typeface="DM Sans"/>
              <a:ea typeface="DM Sans"/>
              <a:cs typeface="DM Sans"/>
              <a:sym typeface="DM Sans"/>
            </a:endParaRPr>
          </a:p>
        </p:txBody>
      </p:sp>
      <p:sp>
        <p:nvSpPr>
          <p:cNvPr id="231" name="Google Shape;231;p10"/>
          <p:cNvSpPr/>
          <p:nvPr/>
        </p:nvSpPr>
        <p:spPr>
          <a:xfrm>
            <a:off x="6333304" y="3533187"/>
            <a:ext cx="2191200" cy="478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Center: 25  |  Left: 27  |  Right: 28</a:t>
            </a:r>
            <a:endParaRPr b="0" i="0" sz="110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Nearly even split — model is appropriately unsure</a:t>
            </a:r>
            <a:endParaRPr b="0" i="0" sz="1100" u="none" cap="none" strike="noStrike">
              <a:solidFill>
                <a:schemeClr val="dk1"/>
              </a:solidFill>
              <a:latin typeface="DM Sans"/>
              <a:ea typeface="DM Sans"/>
              <a:cs typeface="DM Sans"/>
              <a:sym typeface="DM Sans"/>
            </a:endParaRPr>
          </a:p>
        </p:txBody>
      </p:sp>
      <p:pic>
        <p:nvPicPr>
          <p:cNvPr id="232" name="Google Shape;232;p10"/>
          <p:cNvPicPr preferRelativeResize="0"/>
          <p:nvPr/>
        </p:nvPicPr>
        <p:blipFill rotWithShape="1">
          <a:blip r:embed="rId3">
            <a:alphaModFix/>
          </a:blip>
          <a:srcRect b="0" l="0" r="0" t="0"/>
          <a:stretch/>
        </p:blipFill>
        <p:spPr>
          <a:xfrm>
            <a:off x="166153" y="1223200"/>
            <a:ext cx="5877951" cy="3624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7"/>
          <p:cNvSpPr txBox="1"/>
          <p:nvPr/>
        </p:nvSpPr>
        <p:spPr>
          <a:xfrm>
            <a:off x="274320" y="59436"/>
            <a:ext cx="841248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800" u="none" cap="none" strike="noStrike">
                <a:solidFill>
                  <a:srgbClr val="008C8E"/>
                </a:solidFill>
                <a:latin typeface="DM Sans"/>
                <a:ea typeface="DM Sans"/>
                <a:cs typeface="DM Sans"/>
                <a:sym typeface="DM Sans"/>
              </a:rPr>
              <a:t>Model</a:t>
            </a:r>
            <a:r>
              <a:rPr b="1" i="0" lang="en-US" sz="2600" u="none" cap="none" strike="noStrike">
                <a:solidFill>
                  <a:srgbClr val="1E2761"/>
                </a:solidFill>
                <a:latin typeface="Arial"/>
                <a:ea typeface="Arial"/>
                <a:cs typeface="Arial"/>
                <a:sym typeface="Arial"/>
              </a:rPr>
              <a:t> </a:t>
            </a:r>
            <a:r>
              <a:rPr b="1" i="0" lang="en-US" sz="2800" u="none" cap="none" strike="noStrike">
                <a:solidFill>
                  <a:srgbClr val="008C8E"/>
                </a:solidFill>
                <a:latin typeface="DM Sans"/>
                <a:ea typeface="DM Sans"/>
                <a:cs typeface="DM Sans"/>
                <a:sym typeface="DM Sans"/>
              </a:rPr>
              <a:t>Upgrade: Addressing</a:t>
            </a:r>
            <a:r>
              <a:rPr b="1" i="0" lang="en-US" sz="2600" u="none" cap="none" strike="noStrike">
                <a:solidFill>
                  <a:srgbClr val="1E2761"/>
                </a:solidFill>
                <a:latin typeface="Arial"/>
                <a:ea typeface="Arial"/>
                <a:cs typeface="Arial"/>
                <a:sym typeface="Arial"/>
              </a:rPr>
              <a:t> </a:t>
            </a:r>
            <a:r>
              <a:rPr b="1" i="0" lang="en-US" sz="2800" u="none" cap="none" strike="noStrike">
                <a:solidFill>
                  <a:srgbClr val="008C8E"/>
                </a:solidFill>
                <a:latin typeface="DM Sans"/>
                <a:ea typeface="DM Sans"/>
                <a:cs typeface="DM Sans"/>
                <a:sym typeface="DM Sans"/>
              </a:rPr>
              <a:t>Feedback</a:t>
            </a:r>
            <a:endParaRPr/>
          </a:p>
        </p:txBody>
      </p:sp>
      <p:sp>
        <p:nvSpPr>
          <p:cNvPr id="238" name="Google Shape;238;p17"/>
          <p:cNvSpPr txBox="1"/>
          <p:nvPr/>
        </p:nvSpPr>
        <p:spPr>
          <a:xfrm>
            <a:off x="365760" y="594360"/>
            <a:ext cx="8412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6C6C6C"/>
                </a:solidFill>
                <a:latin typeface="DM Sans"/>
                <a:ea typeface="DM Sans"/>
                <a:cs typeface="DM Sans"/>
                <a:sym typeface="DM Sans"/>
              </a:rPr>
              <a:t>From</a:t>
            </a:r>
            <a:r>
              <a:rPr b="0" i="0" lang="en-US" sz="1300" u="none" cap="none" strike="noStrike">
                <a:solidFill>
                  <a:srgbClr val="008C8E"/>
                </a:solidFill>
                <a:latin typeface="Arial"/>
                <a:ea typeface="Arial"/>
                <a:cs typeface="Arial"/>
                <a:sym typeface="Arial"/>
              </a:rPr>
              <a:t> </a:t>
            </a:r>
            <a:r>
              <a:rPr b="0" i="0" lang="en-US" sz="1400" u="none" cap="none" strike="noStrike">
                <a:solidFill>
                  <a:srgbClr val="6C6C6C"/>
                </a:solidFill>
                <a:latin typeface="DM Sans"/>
                <a:ea typeface="DM Sans"/>
                <a:cs typeface="DM Sans"/>
                <a:sym typeface="DM Sans"/>
              </a:rPr>
              <a:t>BiLSTM</a:t>
            </a:r>
            <a:r>
              <a:rPr b="0" i="0" lang="en-US" sz="1300" u="none" cap="none" strike="noStrike">
                <a:solidFill>
                  <a:srgbClr val="008C8E"/>
                </a:solidFill>
                <a:latin typeface="Arial"/>
                <a:ea typeface="Arial"/>
                <a:cs typeface="Arial"/>
                <a:sym typeface="Arial"/>
              </a:rPr>
              <a:t> </a:t>
            </a:r>
            <a:r>
              <a:rPr b="0" i="0" lang="en-US" sz="1400" u="none" cap="none" strike="noStrike">
                <a:solidFill>
                  <a:srgbClr val="6C6C6C"/>
                </a:solidFill>
                <a:latin typeface="DM Sans"/>
                <a:ea typeface="DM Sans"/>
                <a:cs typeface="DM Sans"/>
                <a:sym typeface="DM Sans"/>
              </a:rPr>
              <a:t>to</a:t>
            </a:r>
            <a:r>
              <a:rPr b="0" i="0" lang="en-US" sz="1300" u="none" cap="none" strike="noStrike">
                <a:solidFill>
                  <a:srgbClr val="008C8E"/>
                </a:solidFill>
                <a:latin typeface="Arial"/>
                <a:ea typeface="Arial"/>
                <a:cs typeface="Arial"/>
                <a:sym typeface="Arial"/>
              </a:rPr>
              <a:t> </a:t>
            </a:r>
            <a:r>
              <a:rPr b="0" i="0" lang="en-US" sz="1400" u="none" cap="none" strike="noStrike">
                <a:solidFill>
                  <a:srgbClr val="6C6C6C"/>
                </a:solidFill>
                <a:latin typeface="DM Sans"/>
                <a:ea typeface="DM Sans"/>
                <a:cs typeface="DM Sans"/>
                <a:sym typeface="DM Sans"/>
              </a:rPr>
              <a:t>Ordinal</a:t>
            </a:r>
            <a:r>
              <a:rPr b="0" i="0" lang="en-US" sz="1300" u="none" cap="none" strike="noStrike">
                <a:solidFill>
                  <a:srgbClr val="008C8E"/>
                </a:solidFill>
                <a:latin typeface="Arial"/>
                <a:ea typeface="Arial"/>
                <a:cs typeface="Arial"/>
                <a:sym typeface="Arial"/>
              </a:rPr>
              <a:t> </a:t>
            </a:r>
            <a:r>
              <a:rPr b="0" i="0" lang="en-US" sz="1400" u="none" cap="none" strike="noStrike">
                <a:solidFill>
                  <a:srgbClr val="6C6C6C"/>
                </a:solidFill>
                <a:latin typeface="DM Sans"/>
                <a:ea typeface="DM Sans"/>
                <a:cs typeface="DM Sans"/>
                <a:sym typeface="DM Sans"/>
              </a:rPr>
              <a:t>DistilRoBERTa</a:t>
            </a:r>
            <a:endParaRPr b="0" i="0" sz="1400" u="none" cap="none" strike="noStrike">
              <a:solidFill>
                <a:srgbClr val="6C6C6C"/>
              </a:solidFill>
              <a:latin typeface="DM Sans"/>
              <a:ea typeface="DM Sans"/>
              <a:cs typeface="DM Sans"/>
              <a:sym typeface="DM Sans"/>
            </a:endParaRPr>
          </a:p>
        </p:txBody>
      </p:sp>
      <p:sp>
        <p:nvSpPr>
          <p:cNvPr id="239" name="Google Shape;239;p17"/>
          <p:cNvSpPr/>
          <p:nvPr/>
        </p:nvSpPr>
        <p:spPr>
          <a:xfrm>
            <a:off x="411480" y="932874"/>
            <a:ext cx="3909060" cy="292388"/>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DM Sans"/>
              <a:ea typeface="DM Sans"/>
              <a:cs typeface="DM Sans"/>
              <a:sym typeface="DM Sans"/>
            </a:endParaRPr>
          </a:p>
        </p:txBody>
      </p:sp>
      <p:sp>
        <p:nvSpPr>
          <p:cNvPr id="240" name="Google Shape;240;p17"/>
          <p:cNvSpPr txBox="1"/>
          <p:nvPr/>
        </p:nvSpPr>
        <p:spPr>
          <a:xfrm>
            <a:off x="411480" y="932874"/>
            <a:ext cx="3254351" cy="283527"/>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Arial"/>
                <a:ea typeface="Arial"/>
                <a:cs typeface="Arial"/>
                <a:sym typeface="Arial"/>
              </a:rPr>
              <a:t>Feedback 1: Use a Transformer</a:t>
            </a:r>
            <a:endParaRPr/>
          </a:p>
        </p:txBody>
      </p:sp>
      <p:sp>
        <p:nvSpPr>
          <p:cNvPr id="241" name="Google Shape;241;p17"/>
          <p:cNvSpPr/>
          <p:nvPr/>
        </p:nvSpPr>
        <p:spPr>
          <a:xfrm>
            <a:off x="411480" y="1219265"/>
            <a:ext cx="3909060" cy="634276"/>
          </a:xfrm>
          <a:prstGeom prst="rect">
            <a:avLst/>
          </a:prstGeom>
          <a:solidFill>
            <a:srgbClr val="F4F6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2" name="Google Shape;242;p17"/>
          <p:cNvSpPr txBox="1"/>
          <p:nvPr/>
        </p:nvSpPr>
        <p:spPr>
          <a:xfrm>
            <a:off x="388619" y="1253377"/>
            <a:ext cx="3817621" cy="6001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100" u="none" cap="none" strike="noStrike">
                <a:solidFill>
                  <a:srgbClr val="1E293B"/>
                </a:solidFill>
                <a:latin typeface="Arial"/>
                <a:ea typeface="Arial"/>
                <a:cs typeface="Arial"/>
                <a:sym typeface="Arial"/>
              </a:rPr>
              <a:t>LSTM trains embeddings from scratch. RoBERTa uses pretrained contextual embeddings; the same word carries different representations depending on context.</a:t>
            </a:r>
            <a:endParaRPr/>
          </a:p>
        </p:txBody>
      </p:sp>
      <p:sp>
        <p:nvSpPr>
          <p:cNvPr id="243" name="Google Shape;243;p17"/>
          <p:cNvSpPr/>
          <p:nvPr/>
        </p:nvSpPr>
        <p:spPr>
          <a:xfrm>
            <a:off x="411480" y="1923523"/>
            <a:ext cx="3909060" cy="264959"/>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DM Sans"/>
              <a:ea typeface="DM Sans"/>
              <a:cs typeface="DM Sans"/>
              <a:sym typeface="DM Sans"/>
            </a:endParaRPr>
          </a:p>
        </p:txBody>
      </p:sp>
      <p:sp>
        <p:nvSpPr>
          <p:cNvPr id="244" name="Google Shape;244;p17"/>
          <p:cNvSpPr txBox="1"/>
          <p:nvPr/>
        </p:nvSpPr>
        <p:spPr>
          <a:xfrm>
            <a:off x="388619" y="1909323"/>
            <a:ext cx="3931920" cy="31089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Feedback 2: Use Ordinal Encoding</a:t>
            </a:r>
            <a:endParaRPr/>
          </a:p>
        </p:txBody>
      </p:sp>
      <p:sp>
        <p:nvSpPr>
          <p:cNvPr id="245" name="Google Shape;245;p17"/>
          <p:cNvSpPr/>
          <p:nvPr/>
        </p:nvSpPr>
        <p:spPr>
          <a:xfrm>
            <a:off x="390905" y="2209767"/>
            <a:ext cx="3909061" cy="745252"/>
          </a:xfrm>
          <a:prstGeom prst="rect">
            <a:avLst/>
          </a:prstGeom>
          <a:solidFill>
            <a:srgbClr val="F4F6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46" name="Google Shape;246;p17"/>
          <p:cNvSpPr txBox="1"/>
          <p:nvPr/>
        </p:nvSpPr>
        <p:spPr>
          <a:xfrm>
            <a:off x="400049" y="2250923"/>
            <a:ext cx="3931920" cy="60016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100" u="none" cap="none" strike="noStrike">
                <a:solidFill>
                  <a:srgbClr val="1E293B"/>
                </a:solidFill>
                <a:latin typeface="Arial"/>
                <a:ea typeface="Arial"/>
                <a:cs typeface="Arial"/>
                <a:sym typeface="Arial"/>
              </a:rPr>
              <a:t>Softmax treats all errors equally. Ordinal encoding: left=(1,0,0), center=(1,1,0), right=(1,1,1). Binary cross-entropy penalizes far-off errors more strongly.</a:t>
            </a:r>
            <a:endParaRPr/>
          </a:p>
        </p:txBody>
      </p:sp>
      <p:sp>
        <p:nvSpPr>
          <p:cNvPr id="247" name="Google Shape;247;p17"/>
          <p:cNvSpPr/>
          <p:nvPr/>
        </p:nvSpPr>
        <p:spPr>
          <a:xfrm>
            <a:off x="4663440" y="935273"/>
            <a:ext cx="4069080" cy="2019745"/>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DM Sans"/>
              <a:ea typeface="DM Sans"/>
              <a:cs typeface="DM Sans"/>
              <a:sym typeface="DM Sans"/>
            </a:endParaRPr>
          </a:p>
        </p:txBody>
      </p:sp>
      <p:sp>
        <p:nvSpPr>
          <p:cNvPr id="248" name="Google Shape;248;p17"/>
          <p:cNvSpPr txBox="1"/>
          <p:nvPr/>
        </p:nvSpPr>
        <p:spPr>
          <a:xfrm>
            <a:off x="4684014" y="951697"/>
            <a:ext cx="3794760" cy="369332"/>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Arial"/>
                <a:ea typeface="Arial"/>
                <a:cs typeface="Arial"/>
                <a:sym typeface="Arial"/>
              </a:rPr>
              <a:t>Updated</a:t>
            </a:r>
            <a:r>
              <a:rPr b="0" i="0" lang="en-US" sz="1800" u="none" cap="none" strike="noStrike">
                <a:solidFill>
                  <a:schemeClr val="dk1"/>
                </a:solidFill>
                <a:latin typeface="DM Sans"/>
                <a:ea typeface="DM Sans"/>
                <a:cs typeface="DM Sans"/>
                <a:sym typeface="DM Sans"/>
              </a:rPr>
              <a:t> </a:t>
            </a:r>
            <a:r>
              <a:rPr b="1" i="0" lang="en-US" sz="1300" u="none" cap="none" strike="noStrike">
                <a:solidFill>
                  <a:schemeClr val="lt1"/>
                </a:solidFill>
                <a:latin typeface="Arial"/>
                <a:ea typeface="Arial"/>
                <a:cs typeface="Arial"/>
                <a:sym typeface="Arial"/>
              </a:rPr>
              <a:t>Architecture</a:t>
            </a:r>
            <a:endParaRPr/>
          </a:p>
        </p:txBody>
      </p:sp>
      <p:sp>
        <p:nvSpPr>
          <p:cNvPr id="249" name="Google Shape;249;p17"/>
          <p:cNvSpPr txBox="1"/>
          <p:nvPr/>
        </p:nvSpPr>
        <p:spPr>
          <a:xfrm>
            <a:off x="4777740" y="1444139"/>
            <a:ext cx="141732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000" u="none" cap="none" strike="noStrike">
                <a:solidFill>
                  <a:schemeClr val="lt1"/>
                </a:solidFill>
                <a:latin typeface="Arial"/>
                <a:ea typeface="Arial"/>
                <a:cs typeface="Arial"/>
                <a:sym typeface="Arial"/>
              </a:rPr>
              <a:t>Base Model:</a:t>
            </a:r>
            <a:endParaRPr/>
          </a:p>
        </p:txBody>
      </p:sp>
      <p:sp>
        <p:nvSpPr>
          <p:cNvPr id="250" name="Google Shape;250;p17"/>
          <p:cNvSpPr txBox="1"/>
          <p:nvPr/>
        </p:nvSpPr>
        <p:spPr>
          <a:xfrm>
            <a:off x="6206489" y="1442404"/>
            <a:ext cx="237744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Arial"/>
                <a:ea typeface="Arial"/>
                <a:cs typeface="Arial"/>
                <a:sym typeface="Arial"/>
              </a:rPr>
              <a:t>DistilRoBERTa (distilroberta-base)</a:t>
            </a:r>
            <a:endParaRPr/>
          </a:p>
        </p:txBody>
      </p:sp>
      <p:sp>
        <p:nvSpPr>
          <p:cNvPr id="251" name="Google Shape;251;p17"/>
          <p:cNvSpPr txBox="1"/>
          <p:nvPr/>
        </p:nvSpPr>
        <p:spPr>
          <a:xfrm>
            <a:off x="4777740" y="1730345"/>
            <a:ext cx="141732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000" u="none" cap="none" strike="noStrike">
                <a:solidFill>
                  <a:schemeClr val="lt1"/>
                </a:solidFill>
                <a:latin typeface="Arial"/>
                <a:ea typeface="Arial"/>
                <a:cs typeface="Arial"/>
                <a:sym typeface="Arial"/>
              </a:rPr>
              <a:t>Tokenization:</a:t>
            </a:r>
            <a:endParaRPr/>
          </a:p>
        </p:txBody>
      </p:sp>
      <p:sp>
        <p:nvSpPr>
          <p:cNvPr id="252" name="Google Shape;252;p17"/>
          <p:cNvSpPr txBox="1"/>
          <p:nvPr/>
        </p:nvSpPr>
        <p:spPr>
          <a:xfrm>
            <a:off x="6206489" y="1702473"/>
            <a:ext cx="237744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Arial"/>
                <a:ea typeface="Arial"/>
                <a:cs typeface="Arial"/>
                <a:sym typeface="Arial"/>
              </a:rPr>
              <a:t>Subword, max 128 tokens</a:t>
            </a:r>
            <a:endParaRPr/>
          </a:p>
        </p:txBody>
      </p:sp>
      <p:sp>
        <p:nvSpPr>
          <p:cNvPr id="253" name="Google Shape;253;p17"/>
          <p:cNvSpPr txBox="1"/>
          <p:nvPr/>
        </p:nvSpPr>
        <p:spPr>
          <a:xfrm>
            <a:off x="4777739" y="1998849"/>
            <a:ext cx="141732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000" u="none" cap="none" strike="noStrike">
                <a:solidFill>
                  <a:schemeClr val="lt1"/>
                </a:solidFill>
                <a:latin typeface="Arial"/>
                <a:ea typeface="Arial"/>
                <a:cs typeface="Arial"/>
                <a:sym typeface="Arial"/>
              </a:rPr>
              <a:t>Classifier:</a:t>
            </a:r>
            <a:endParaRPr/>
          </a:p>
        </p:txBody>
      </p:sp>
      <p:sp>
        <p:nvSpPr>
          <p:cNvPr id="254" name="Google Shape;254;p17"/>
          <p:cNvSpPr txBox="1"/>
          <p:nvPr/>
        </p:nvSpPr>
        <p:spPr>
          <a:xfrm>
            <a:off x="6217919" y="1998848"/>
            <a:ext cx="237744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Arial"/>
                <a:ea typeface="Arial"/>
                <a:cs typeface="Arial"/>
                <a:sym typeface="Arial"/>
              </a:rPr>
              <a:t>Linear → 3 ordinal logits</a:t>
            </a:r>
            <a:endParaRPr/>
          </a:p>
        </p:txBody>
      </p:sp>
      <p:sp>
        <p:nvSpPr>
          <p:cNvPr id="255" name="Google Shape;255;p17"/>
          <p:cNvSpPr txBox="1"/>
          <p:nvPr/>
        </p:nvSpPr>
        <p:spPr>
          <a:xfrm>
            <a:off x="4789169" y="2225165"/>
            <a:ext cx="141732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000" u="none" cap="none" strike="noStrike">
                <a:solidFill>
                  <a:schemeClr val="lt1"/>
                </a:solidFill>
                <a:latin typeface="Arial"/>
                <a:ea typeface="Arial"/>
                <a:cs typeface="Arial"/>
                <a:sym typeface="Arial"/>
              </a:rPr>
              <a:t>Loss:</a:t>
            </a:r>
            <a:endParaRPr/>
          </a:p>
        </p:txBody>
      </p:sp>
      <p:sp>
        <p:nvSpPr>
          <p:cNvPr id="256" name="Google Shape;256;p17"/>
          <p:cNvSpPr txBox="1"/>
          <p:nvPr/>
        </p:nvSpPr>
        <p:spPr>
          <a:xfrm>
            <a:off x="6206489" y="2221765"/>
            <a:ext cx="237744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Arial"/>
                <a:ea typeface="Arial"/>
                <a:cs typeface="Arial"/>
                <a:sym typeface="Arial"/>
              </a:rPr>
              <a:t>Binary cross-entropy per bit</a:t>
            </a:r>
            <a:endParaRPr/>
          </a:p>
        </p:txBody>
      </p:sp>
      <p:sp>
        <p:nvSpPr>
          <p:cNvPr id="257" name="Google Shape;257;p17"/>
          <p:cNvSpPr txBox="1"/>
          <p:nvPr/>
        </p:nvSpPr>
        <p:spPr>
          <a:xfrm>
            <a:off x="4757166" y="2479928"/>
            <a:ext cx="141732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000" u="none" cap="none" strike="noStrike">
                <a:solidFill>
                  <a:schemeClr val="lt1"/>
                </a:solidFill>
                <a:latin typeface="Arial"/>
                <a:ea typeface="Arial"/>
                <a:cs typeface="Arial"/>
                <a:sym typeface="Arial"/>
              </a:rPr>
              <a:t>Training:</a:t>
            </a:r>
            <a:endParaRPr/>
          </a:p>
        </p:txBody>
      </p:sp>
      <p:sp>
        <p:nvSpPr>
          <p:cNvPr id="258" name="Google Shape;258;p17"/>
          <p:cNvSpPr txBox="1"/>
          <p:nvPr/>
        </p:nvSpPr>
        <p:spPr>
          <a:xfrm>
            <a:off x="6217919" y="2479928"/>
            <a:ext cx="237744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none" cap="none" strike="noStrike">
                <a:solidFill>
                  <a:schemeClr val="lt1"/>
                </a:solidFill>
                <a:latin typeface="Arial"/>
                <a:ea typeface="Arial"/>
                <a:cs typeface="Arial"/>
                <a:sym typeface="Arial"/>
              </a:rPr>
              <a:t>3 epochs, full fine-tune (82M params)</a:t>
            </a:r>
            <a:endParaRPr/>
          </a:p>
        </p:txBody>
      </p:sp>
      <p:pic>
        <p:nvPicPr>
          <p:cNvPr descr="image.png" id="259" name="Google Shape;259;p17"/>
          <p:cNvPicPr preferRelativeResize="0"/>
          <p:nvPr/>
        </p:nvPicPr>
        <p:blipFill rotWithShape="1">
          <a:blip r:embed="rId3">
            <a:alphaModFix/>
          </a:blip>
          <a:srcRect b="0" l="0" r="0" t="0"/>
          <a:stretch/>
        </p:blipFill>
        <p:spPr>
          <a:xfrm>
            <a:off x="274320" y="2976304"/>
            <a:ext cx="8412480" cy="21671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8"/>
          <p:cNvSpPr txBox="1"/>
          <p:nvPr/>
        </p:nvSpPr>
        <p:spPr>
          <a:xfrm>
            <a:off x="365760" y="109728"/>
            <a:ext cx="841248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8C8E"/>
                </a:solidFill>
                <a:latin typeface="DM Sans"/>
                <a:ea typeface="DM Sans"/>
                <a:cs typeface="DM Sans"/>
                <a:sym typeface="DM Sans"/>
              </a:rPr>
              <a:t>Improved</a:t>
            </a:r>
            <a:r>
              <a:rPr b="1" i="0" lang="en-US" sz="2400" u="none" cap="none" strike="noStrike">
                <a:solidFill>
                  <a:srgbClr val="1E2761"/>
                </a:solidFill>
                <a:latin typeface="Arial"/>
                <a:ea typeface="Arial"/>
                <a:cs typeface="Arial"/>
                <a:sym typeface="Arial"/>
              </a:rPr>
              <a:t> </a:t>
            </a:r>
            <a:r>
              <a:rPr b="1" i="0" lang="en-US" sz="2400" u="none" cap="none" strike="noStrike">
                <a:solidFill>
                  <a:srgbClr val="008C8E"/>
                </a:solidFill>
                <a:latin typeface="DM Sans"/>
                <a:ea typeface="DM Sans"/>
                <a:cs typeface="DM Sans"/>
                <a:sym typeface="DM Sans"/>
              </a:rPr>
              <a:t>Results: BiLSTM vs. Ordinal DistilRoBERTa</a:t>
            </a:r>
            <a:endParaRPr b="1" i="0" sz="2400" u="none" cap="none" strike="noStrike">
              <a:solidFill>
                <a:srgbClr val="008C8E"/>
              </a:solidFill>
              <a:latin typeface="DM Sans"/>
              <a:ea typeface="DM Sans"/>
              <a:cs typeface="DM Sans"/>
              <a:sym typeface="DM Sans"/>
            </a:endParaRPr>
          </a:p>
        </p:txBody>
      </p:sp>
      <p:sp>
        <p:nvSpPr>
          <p:cNvPr id="265" name="Google Shape;265;p18"/>
          <p:cNvSpPr txBox="1"/>
          <p:nvPr/>
        </p:nvSpPr>
        <p:spPr>
          <a:xfrm>
            <a:off x="365760" y="594360"/>
            <a:ext cx="841248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6C6C6C"/>
                </a:solidFill>
                <a:latin typeface="DM Sans"/>
                <a:ea typeface="DM Sans"/>
                <a:cs typeface="DM Sans"/>
                <a:sym typeface="DM Sans"/>
              </a:rPr>
              <a:t>Both feedback points implemented</a:t>
            </a:r>
            <a:r>
              <a:rPr b="0" i="0" lang="en-US" sz="1100" u="none" cap="none" strike="noStrike">
                <a:solidFill>
                  <a:srgbClr val="008C8E"/>
                </a:solidFill>
                <a:latin typeface="Arial"/>
                <a:ea typeface="Arial"/>
                <a:cs typeface="Arial"/>
                <a:sym typeface="Arial"/>
              </a:rPr>
              <a:t> </a:t>
            </a:r>
            <a:r>
              <a:rPr b="0" i="0" lang="en-US" sz="1200" u="none" cap="none" strike="noStrike">
                <a:solidFill>
                  <a:srgbClr val="6C6C6C"/>
                </a:solidFill>
                <a:latin typeface="DM Sans"/>
                <a:ea typeface="DM Sans"/>
                <a:cs typeface="DM Sans"/>
                <a:sym typeface="DM Sans"/>
              </a:rPr>
              <a:t>— significant gains across all metrics</a:t>
            </a:r>
            <a:endParaRPr/>
          </a:p>
        </p:txBody>
      </p:sp>
      <p:pic>
        <p:nvPicPr>
          <p:cNvPr descr="04_11__baseline_vs_updated_model_comparison_cell25_output0.png" id="266" name="Google Shape;266;p18"/>
          <p:cNvPicPr preferRelativeResize="0"/>
          <p:nvPr/>
        </p:nvPicPr>
        <p:blipFill rotWithShape="1">
          <a:blip r:embed="rId3">
            <a:alphaModFix/>
          </a:blip>
          <a:srcRect b="0" l="0" r="0" t="0"/>
          <a:stretch/>
        </p:blipFill>
        <p:spPr>
          <a:xfrm>
            <a:off x="365760" y="960120"/>
            <a:ext cx="8412480" cy="2606040"/>
          </a:xfrm>
          <a:prstGeom prst="rect">
            <a:avLst/>
          </a:prstGeom>
          <a:noFill/>
          <a:ln>
            <a:noFill/>
          </a:ln>
        </p:spPr>
      </p:pic>
      <p:sp>
        <p:nvSpPr>
          <p:cNvPr id="267" name="Google Shape;267;p18"/>
          <p:cNvSpPr/>
          <p:nvPr/>
        </p:nvSpPr>
        <p:spPr>
          <a:xfrm>
            <a:off x="365760" y="3703320"/>
            <a:ext cx="4160520" cy="777240"/>
          </a:xfrm>
          <a:prstGeom prst="rect">
            <a:avLst/>
          </a:prstGeom>
          <a:solidFill>
            <a:srgbClr val="FEF2F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8" name="Google Shape;268;p18"/>
          <p:cNvSpPr txBox="1"/>
          <p:nvPr/>
        </p:nvSpPr>
        <p:spPr>
          <a:xfrm>
            <a:off x="457200" y="3739896"/>
            <a:ext cx="39319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DC2626"/>
                </a:solidFill>
                <a:latin typeface="Arial"/>
                <a:ea typeface="Arial"/>
                <a:cs typeface="Arial"/>
                <a:sym typeface="Arial"/>
              </a:rPr>
              <a:t>FOX Misclassification — RESOLVED</a:t>
            </a:r>
            <a:endParaRPr/>
          </a:p>
        </p:txBody>
      </p:sp>
      <p:sp>
        <p:nvSpPr>
          <p:cNvPr id="269" name="Google Shape;269;p18"/>
          <p:cNvSpPr txBox="1"/>
          <p:nvPr/>
        </p:nvSpPr>
        <p:spPr>
          <a:xfrm>
            <a:off x="457200" y="3995928"/>
            <a:ext cx="393192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100" u="none" cap="none" strike="noStrike">
                <a:solidFill>
                  <a:srgbClr val="1E293B"/>
                </a:solidFill>
                <a:latin typeface="Arial"/>
                <a:ea typeface="Arial"/>
                <a:cs typeface="Arial"/>
                <a:sym typeface="Arial"/>
              </a:rPr>
              <a:t>FOX right share: 11.6% (LSTM)  →  74.9% (RoBERTa)</a:t>
            </a:r>
            <a:br>
              <a:rPr b="0" i="0" lang="en-US" sz="1100" u="none" cap="none" strike="noStrike">
                <a:solidFill>
                  <a:srgbClr val="1E293B"/>
                </a:solidFill>
                <a:latin typeface="Arial"/>
                <a:ea typeface="Arial"/>
                <a:cs typeface="Arial"/>
                <a:sym typeface="Arial"/>
              </a:rPr>
            </a:br>
            <a:r>
              <a:rPr b="0" i="0" lang="en-US" sz="1100" u="none" cap="none" strike="noStrike">
                <a:solidFill>
                  <a:srgbClr val="1E293B"/>
                </a:solidFill>
                <a:latin typeface="Arial"/>
                <a:ea typeface="Arial"/>
                <a:cs typeface="Arial"/>
                <a:sym typeface="Arial"/>
              </a:rPr>
              <a:t>FOX left share: 51.4% (LSTM)  →  8.5% (RoBERTa)</a:t>
            </a:r>
            <a:endParaRPr/>
          </a:p>
        </p:txBody>
      </p:sp>
      <p:sp>
        <p:nvSpPr>
          <p:cNvPr id="270" name="Google Shape;270;p18"/>
          <p:cNvSpPr/>
          <p:nvPr/>
        </p:nvSpPr>
        <p:spPr>
          <a:xfrm>
            <a:off x="4617720" y="3703320"/>
            <a:ext cx="4160520" cy="777240"/>
          </a:xfrm>
          <a:prstGeom prst="rect">
            <a:avLst/>
          </a:prstGeom>
          <a:solidFill>
            <a:srgbClr val="F0FDF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71" name="Google Shape;271;p18"/>
          <p:cNvSpPr txBox="1"/>
          <p:nvPr/>
        </p:nvSpPr>
        <p:spPr>
          <a:xfrm>
            <a:off x="4709160" y="3739896"/>
            <a:ext cx="3931920" cy="274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200" u="none" cap="none" strike="noStrike">
                <a:solidFill>
                  <a:srgbClr val="15803D"/>
                </a:solidFill>
                <a:latin typeface="Arial"/>
                <a:ea typeface="Arial"/>
                <a:cs typeface="Arial"/>
                <a:sym typeface="Arial"/>
              </a:rPr>
              <a:t>NPR Centrist Prediction — IMPROVED</a:t>
            </a:r>
            <a:endParaRPr/>
          </a:p>
        </p:txBody>
      </p:sp>
      <p:sp>
        <p:nvSpPr>
          <p:cNvPr id="272" name="Google Shape;272;p18"/>
          <p:cNvSpPr txBox="1"/>
          <p:nvPr/>
        </p:nvSpPr>
        <p:spPr>
          <a:xfrm>
            <a:off x="4709160" y="3995928"/>
            <a:ext cx="3931920" cy="4389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100" u="none" cap="none" strike="noStrike">
                <a:solidFill>
                  <a:srgbClr val="1E293B"/>
                </a:solidFill>
                <a:latin typeface="Arial"/>
                <a:ea typeface="Arial"/>
                <a:cs typeface="Arial"/>
                <a:sym typeface="Arial"/>
              </a:rPr>
              <a:t>NPR center share: 31.3% (LSTM)  →  64.7% (RoBERTa)</a:t>
            </a:r>
            <a:br>
              <a:rPr b="0" i="0" lang="en-US" sz="1100" u="none" cap="none" strike="noStrike">
                <a:solidFill>
                  <a:srgbClr val="1E293B"/>
                </a:solidFill>
                <a:latin typeface="Arial"/>
                <a:ea typeface="Arial"/>
                <a:cs typeface="Arial"/>
                <a:sym typeface="Arial"/>
              </a:rPr>
            </a:br>
            <a:r>
              <a:rPr b="0" i="0" lang="en-US" sz="1100" u="none" cap="none" strike="noStrike">
                <a:solidFill>
                  <a:srgbClr val="1E293B"/>
                </a:solidFill>
                <a:latin typeface="Arial"/>
                <a:ea typeface="Arial"/>
                <a:cs typeface="Arial"/>
                <a:sym typeface="Arial"/>
              </a:rPr>
              <a:t>Model now correctly identifies NPR as centrist.</a:t>
            </a:r>
            <a:endParaRPr/>
          </a:p>
        </p:txBody>
      </p:sp>
      <p:sp>
        <p:nvSpPr>
          <p:cNvPr id="273" name="Google Shape;273;p18"/>
          <p:cNvSpPr/>
          <p:nvPr/>
        </p:nvSpPr>
        <p:spPr>
          <a:xfrm>
            <a:off x="365760" y="4572000"/>
            <a:ext cx="8412480" cy="36576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DM Sans"/>
              <a:ea typeface="DM Sans"/>
              <a:cs typeface="DM Sans"/>
              <a:sym typeface="DM Sans"/>
            </a:endParaRPr>
          </a:p>
        </p:txBody>
      </p:sp>
      <p:sp>
        <p:nvSpPr>
          <p:cNvPr id="274" name="Google Shape;274;p18"/>
          <p:cNvSpPr txBox="1"/>
          <p:nvPr/>
        </p:nvSpPr>
        <p:spPr>
          <a:xfrm>
            <a:off x="457200" y="4608576"/>
            <a:ext cx="8229600" cy="29260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100" u="none" cap="none" strike="noStrike">
                <a:solidFill>
                  <a:srgbClr val="FFFFFF"/>
                </a:solidFill>
                <a:latin typeface="Arial"/>
                <a:ea typeface="Arial"/>
                <a:cs typeface="Arial"/>
                <a:sym typeface="Arial"/>
              </a:rPr>
              <a:t>New ordinal metrics:  Ordinal MAE = 0.39  |  Severe Error Rate = 10.9%  |  935 exact  |  223 adjacent  |  142 opposite-pole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9"/>
          <p:cNvSpPr txBox="1"/>
          <p:nvPr/>
        </p:nvSpPr>
        <p:spPr>
          <a:xfrm>
            <a:off x="365760" y="73152"/>
            <a:ext cx="841248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200" u="none" cap="none" strike="noStrike">
                <a:solidFill>
                  <a:srgbClr val="008C8E"/>
                </a:solidFill>
                <a:latin typeface="DM Sans"/>
                <a:ea typeface="DM Sans"/>
                <a:cs typeface="DM Sans"/>
                <a:sym typeface="DM Sans"/>
              </a:rPr>
              <a:t>Updated</a:t>
            </a:r>
            <a:r>
              <a:rPr b="1" i="0" lang="en-US" sz="2200" u="none" cap="none" strike="noStrike">
                <a:solidFill>
                  <a:srgbClr val="1E2761"/>
                </a:solidFill>
                <a:latin typeface="Arial"/>
                <a:ea typeface="Arial"/>
                <a:cs typeface="Arial"/>
                <a:sym typeface="Arial"/>
              </a:rPr>
              <a:t> </a:t>
            </a:r>
            <a:r>
              <a:rPr b="1" i="0" lang="en-US" sz="2200" u="none" cap="none" strike="noStrike">
                <a:solidFill>
                  <a:srgbClr val="008C8E"/>
                </a:solidFill>
                <a:latin typeface="DM Sans"/>
                <a:ea typeface="DM Sans"/>
                <a:cs typeface="DM Sans"/>
                <a:sym typeface="DM Sans"/>
              </a:rPr>
              <a:t>Model: Confusion Matrix &amp; Per-Class Performance</a:t>
            </a:r>
            <a:endParaRPr/>
          </a:p>
        </p:txBody>
      </p:sp>
      <p:sp>
        <p:nvSpPr>
          <p:cNvPr id="280" name="Google Shape;280;p19"/>
          <p:cNvSpPr txBox="1"/>
          <p:nvPr/>
        </p:nvSpPr>
        <p:spPr>
          <a:xfrm>
            <a:off x="365760" y="530352"/>
            <a:ext cx="841248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200" u="none" cap="none" strike="noStrike">
                <a:solidFill>
                  <a:srgbClr val="6C6C6C"/>
                </a:solidFill>
                <a:latin typeface="DM Sans"/>
                <a:ea typeface="DM Sans"/>
                <a:cs typeface="DM Sans"/>
                <a:sym typeface="DM Sans"/>
              </a:rPr>
              <a:t>Center is now the strongest</a:t>
            </a:r>
            <a:r>
              <a:rPr b="0" i="0" lang="en-US" sz="1200" u="none" cap="none" strike="noStrike">
                <a:solidFill>
                  <a:srgbClr val="008C8E"/>
                </a:solidFill>
                <a:latin typeface="Arial"/>
                <a:ea typeface="Arial"/>
                <a:cs typeface="Arial"/>
                <a:sym typeface="Arial"/>
              </a:rPr>
              <a:t> </a:t>
            </a:r>
            <a:r>
              <a:rPr b="0" i="0" lang="en-US" sz="1200" u="none" cap="none" strike="noStrike">
                <a:solidFill>
                  <a:srgbClr val="6C6C6C"/>
                </a:solidFill>
                <a:latin typeface="DM Sans"/>
                <a:ea typeface="DM Sans"/>
                <a:cs typeface="DM Sans"/>
                <a:sym typeface="DM Sans"/>
              </a:rPr>
              <a:t>class (recall 0.96) — errors are mostly adjacent, not opposite-pole</a:t>
            </a:r>
            <a:endParaRPr/>
          </a:p>
        </p:txBody>
      </p:sp>
      <p:pic>
        <p:nvPicPr>
          <p:cNvPr descr="02_10__performance_visualizations_and_conclusions_cell18_output0.png" id="281" name="Google Shape;281;p19"/>
          <p:cNvPicPr preferRelativeResize="0"/>
          <p:nvPr/>
        </p:nvPicPr>
        <p:blipFill rotWithShape="1">
          <a:blip r:embed="rId3">
            <a:alphaModFix/>
          </a:blip>
          <a:srcRect b="0" l="0" r="0" t="0"/>
          <a:stretch/>
        </p:blipFill>
        <p:spPr>
          <a:xfrm>
            <a:off x="0" y="1405522"/>
            <a:ext cx="4480562" cy="2197199"/>
          </a:xfrm>
          <a:prstGeom prst="rect">
            <a:avLst/>
          </a:prstGeom>
          <a:noFill/>
          <a:ln>
            <a:noFill/>
          </a:ln>
        </p:spPr>
      </p:pic>
      <p:pic>
        <p:nvPicPr>
          <p:cNvPr descr="03_10__performance_visualizations_and_conclusions_cell19_output0.png" id="282" name="Google Shape;282;p19"/>
          <p:cNvPicPr preferRelativeResize="0"/>
          <p:nvPr/>
        </p:nvPicPr>
        <p:blipFill rotWithShape="1">
          <a:blip r:embed="rId4">
            <a:alphaModFix/>
          </a:blip>
          <a:srcRect b="0" l="0" r="0" t="0"/>
          <a:stretch/>
        </p:blipFill>
        <p:spPr>
          <a:xfrm>
            <a:off x="4480562" y="1246507"/>
            <a:ext cx="4597000" cy="2374378"/>
          </a:xfrm>
          <a:prstGeom prst="rect">
            <a:avLst/>
          </a:prstGeom>
          <a:noFill/>
          <a:ln>
            <a:noFill/>
          </a:ln>
        </p:spPr>
      </p:pic>
      <p:sp>
        <p:nvSpPr>
          <p:cNvPr id="283" name="Google Shape;283;p19"/>
          <p:cNvSpPr/>
          <p:nvPr/>
        </p:nvSpPr>
        <p:spPr>
          <a:xfrm>
            <a:off x="365761" y="4060041"/>
            <a:ext cx="7768742" cy="796428"/>
          </a:xfrm>
          <a:prstGeom prst="rect">
            <a:avLst/>
          </a:prstGeom>
          <a:solidFill>
            <a:srgbClr val="F4F6FB"/>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4" name="Google Shape;284;p19"/>
          <p:cNvSpPr txBox="1"/>
          <p:nvPr/>
        </p:nvSpPr>
        <p:spPr>
          <a:xfrm>
            <a:off x="336499" y="4181256"/>
            <a:ext cx="7827265"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none" cap="none" strike="noStrike">
                <a:solidFill>
                  <a:srgbClr val="1E293B"/>
                </a:solidFill>
                <a:latin typeface="Arial"/>
                <a:ea typeface="Arial"/>
                <a:cs typeface="Arial"/>
                <a:sym typeface="Arial"/>
              </a:rPr>
              <a:t>Key insight: Center precision (0.58) is low despite high recall (0.96) — the model over-predicts center when uncertain. Right articles most affected: 141/599 pulled toward center, but only 82 confused with left. Ordinal error distance shows 935 exact, 223 adjacent, 142 opposite-pole predictions.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0"/>
          <p:cNvSpPr/>
          <p:nvPr/>
        </p:nvSpPr>
        <p:spPr>
          <a:xfrm>
            <a:off x="457200" y="105518"/>
            <a:ext cx="5899150" cy="4140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Key Result: Predictions by Source</a:t>
            </a:r>
            <a:endParaRPr b="0" i="0" sz="2800" u="none" cap="none" strike="noStrike">
              <a:solidFill>
                <a:srgbClr val="008C8E"/>
              </a:solidFill>
              <a:latin typeface="DM Sans"/>
              <a:ea typeface="DM Sans"/>
              <a:cs typeface="DM Sans"/>
              <a:sym typeface="DM Sans"/>
            </a:endParaRPr>
          </a:p>
        </p:txBody>
      </p:sp>
      <p:sp>
        <p:nvSpPr>
          <p:cNvPr id="291" name="Google Shape;291;p20"/>
          <p:cNvSpPr/>
          <p:nvPr/>
        </p:nvSpPr>
        <p:spPr>
          <a:xfrm>
            <a:off x="457200" y="595630"/>
            <a:ext cx="822960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400" u="none" cap="none" strike="noStrike">
                <a:solidFill>
                  <a:srgbClr val="6C6C6C"/>
                </a:solidFill>
                <a:latin typeface="DM Sans"/>
                <a:ea typeface="DM Sans"/>
                <a:cs typeface="DM Sans"/>
                <a:sym typeface="DM Sans"/>
              </a:rPr>
              <a:t>Ordinal</a:t>
            </a:r>
            <a:r>
              <a:rPr b="1" i="0" lang="en-US" sz="1400" u="none" cap="none" strike="noStrike">
                <a:solidFill>
                  <a:srgbClr val="008C8E"/>
                </a:solidFill>
                <a:latin typeface="DM Sans"/>
                <a:ea typeface="DM Sans"/>
                <a:cs typeface="DM Sans"/>
                <a:sym typeface="DM Sans"/>
              </a:rPr>
              <a:t> </a:t>
            </a:r>
            <a:r>
              <a:rPr b="0" i="0" lang="en-US" sz="1400" u="none" cap="none" strike="noStrike">
                <a:solidFill>
                  <a:srgbClr val="6C6C6C"/>
                </a:solidFill>
                <a:latin typeface="DM Sans"/>
                <a:ea typeface="DM Sans"/>
                <a:cs typeface="DM Sans"/>
                <a:sym typeface="DM Sans"/>
              </a:rPr>
              <a:t>DistilRoBERTa predictions</a:t>
            </a:r>
            <a:endParaRPr b="0" i="0" sz="1400" u="none" cap="none" strike="noStrike">
              <a:solidFill>
                <a:srgbClr val="6C6C6C"/>
              </a:solidFill>
              <a:latin typeface="DM Sans"/>
              <a:ea typeface="DM Sans"/>
              <a:cs typeface="DM Sans"/>
              <a:sym typeface="DM Sans"/>
            </a:endParaRPr>
          </a:p>
        </p:txBody>
      </p:sp>
      <p:sp>
        <p:nvSpPr>
          <p:cNvPr id="292" name="Google Shape;292;p20"/>
          <p:cNvSpPr/>
          <p:nvPr/>
        </p:nvSpPr>
        <p:spPr>
          <a:xfrm>
            <a:off x="457200" y="828802"/>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pic>
        <p:nvPicPr>
          <p:cNvPr descr="05_11__baseline_vs_updated_model_comparison_cell26_output0.png" id="293" name="Google Shape;293;p20"/>
          <p:cNvPicPr preferRelativeResize="0"/>
          <p:nvPr/>
        </p:nvPicPr>
        <p:blipFill rotWithShape="1">
          <a:blip r:embed="rId3">
            <a:alphaModFix/>
          </a:blip>
          <a:srcRect b="0" l="0" r="0" t="0"/>
          <a:stretch/>
        </p:blipFill>
        <p:spPr>
          <a:xfrm>
            <a:off x="274320" y="1215429"/>
            <a:ext cx="8412480" cy="3122091"/>
          </a:xfrm>
          <a:prstGeom prst="rect">
            <a:avLst/>
          </a:prstGeom>
          <a:noFill/>
          <a:ln>
            <a:noFill/>
          </a:ln>
        </p:spPr>
      </p:pic>
      <p:sp>
        <p:nvSpPr>
          <p:cNvPr id="294" name="Google Shape;294;p20"/>
          <p:cNvSpPr txBox="1"/>
          <p:nvPr/>
        </p:nvSpPr>
        <p:spPr>
          <a:xfrm>
            <a:off x="274320" y="4956048"/>
            <a:ext cx="8412480" cy="2560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1" lang="en-US" sz="900" u="none" cap="none" strike="noStrike">
                <a:solidFill>
                  <a:srgbClr val="64748B"/>
                </a:solidFill>
                <a:latin typeface="Arial"/>
                <a:ea typeface="Arial"/>
                <a:cs typeface="Arial"/>
                <a:sym typeface="Arial"/>
              </a:rPr>
              <a:t>Before vs. after upgrade — FOX right share: 11.6% → 74.9%  |  NPR center share: 31.3% → 64.7%</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1"/>
          <p:cNvSpPr/>
          <p:nvPr/>
        </p:nvSpPr>
        <p:spPr>
          <a:xfrm>
            <a:off x="457200" y="18288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Discussion</a:t>
            </a:r>
            <a:endParaRPr b="0" i="0" sz="2800" u="none" cap="none" strike="noStrike">
              <a:solidFill>
                <a:srgbClr val="008C8E"/>
              </a:solidFill>
              <a:latin typeface="DM Sans"/>
              <a:ea typeface="DM Sans"/>
              <a:cs typeface="DM Sans"/>
              <a:sym typeface="DM Sans"/>
            </a:endParaRPr>
          </a:p>
        </p:txBody>
      </p:sp>
      <p:sp>
        <p:nvSpPr>
          <p:cNvPr id="301" name="Google Shape;301;p21"/>
          <p:cNvSpPr/>
          <p:nvPr/>
        </p:nvSpPr>
        <p:spPr>
          <a:xfrm>
            <a:off x="457200" y="777246"/>
            <a:ext cx="8229600" cy="203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400"/>
              <a:buFont typeface="Calibri"/>
              <a:buNone/>
            </a:pPr>
            <a:r>
              <a:rPr b="0" i="0" lang="en-US" sz="1400" u="none" cap="none" strike="noStrike">
                <a:solidFill>
                  <a:srgbClr val="6C6C6C"/>
                </a:solidFill>
                <a:latin typeface="DM Sans"/>
                <a:ea typeface="DM Sans"/>
                <a:cs typeface="DM Sans"/>
                <a:sym typeface="DM Sans"/>
              </a:rPr>
              <a:t>What the BiLSTM results revealed and what the upgrade resolved</a:t>
            </a:r>
            <a:endParaRPr b="0" i="0" sz="1400" u="none" cap="none" strike="noStrike">
              <a:solidFill>
                <a:srgbClr val="6C6C6C"/>
              </a:solidFill>
              <a:latin typeface="DM Sans"/>
              <a:ea typeface="DM Sans"/>
              <a:cs typeface="DM Sans"/>
              <a:sym typeface="DM Sans"/>
            </a:endParaRPr>
          </a:p>
        </p:txBody>
      </p:sp>
      <p:sp>
        <p:nvSpPr>
          <p:cNvPr id="302" name="Google Shape;302;p21"/>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03" name="Google Shape;303;p21"/>
          <p:cNvSpPr/>
          <p:nvPr/>
        </p:nvSpPr>
        <p:spPr>
          <a:xfrm>
            <a:off x="457200" y="1188720"/>
            <a:ext cx="8229600" cy="68580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8C8E"/>
              </a:solidFill>
              <a:latin typeface="DM Sans"/>
              <a:ea typeface="DM Sans"/>
              <a:cs typeface="DM Sans"/>
              <a:sym typeface="DM Sans"/>
            </a:endParaRPr>
          </a:p>
        </p:txBody>
      </p:sp>
      <p:sp>
        <p:nvSpPr>
          <p:cNvPr id="304" name="Google Shape;304;p21"/>
          <p:cNvSpPr/>
          <p:nvPr/>
        </p:nvSpPr>
        <p:spPr>
          <a:xfrm>
            <a:off x="569294" y="1234440"/>
            <a:ext cx="79554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700"/>
              <a:buFont typeface="Calibri"/>
              <a:buNone/>
            </a:pPr>
            <a:r>
              <a:rPr b="1" i="1" lang="en-US" sz="1700" u="none" cap="none" strike="noStrike">
                <a:solidFill>
                  <a:srgbClr val="F4F4F4"/>
                </a:solidFill>
                <a:latin typeface="DM Sans"/>
                <a:ea typeface="DM Sans"/>
                <a:cs typeface="DM Sans"/>
                <a:sym typeface="DM Sans"/>
              </a:rPr>
              <a:t>The BiLSTM learned linguistic fingerprints — not ideology as an abstract concept. The upgrade confirmed this diagnosis.</a:t>
            </a:r>
            <a:endParaRPr b="0" i="0" sz="1700" u="none" cap="none" strike="noStrike">
              <a:solidFill>
                <a:srgbClr val="F4F4F4"/>
              </a:solidFill>
              <a:latin typeface="DM Sans"/>
              <a:ea typeface="DM Sans"/>
              <a:cs typeface="DM Sans"/>
              <a:sym typeface="DM Sans"/>
            </a:endParaRPr>
          </a:p>
        </p:txBody>
      </p:sp>
      <p:sp>
        <p:nvSpPr>
          <p:cNvPr id="305" name="Google Shape;305;p21"/>
          <p:cNvSpPr/>
          <p:nvPr/>
        </p:nvSpPr>
        <p:spPr>
          <a:xfrm>
            <a:off x="457200" y="2011680"/>
            <a:ext cx="201168" cy="77724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06" name="Google Shape;306;p21"/>
          <p:cNvSpPr/>
          <p:nvPr/>
        </p:nvSpPr>
        <p:spPr>
          <a:xfrm>
            <a:off x="777240" y="2005120"/>
            <a:ext cx="7863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Within-distribution: works</a:t>
            </a:r>
            <a:endParaRPr b="0" i="0" sz="1300" u="none" cap="none" strike="noStrike">
              <a:solidFill>
                <a:schemeClr val="dk1"/>
              </a:solidFill>
              <a:latin typeface="DM Sans"/>
              <a:ea typeface="DM Sans"/>
              <a:cs typeface="DM Sans"/>
              <a:sym typeface="DM Sans"/>
            </a:endParaRPr>
          </a:p>
        </p:txBody>
      </p:sp>
      <p:sp>
        <p:nvSpPr>
          <p:cNvPr id="307" name="Google Shape;307;p21"/>
          <p:cNvSpPr/>
          <p:nvPr/>
        </p:nvSpPr>
        <p:spPr>
          <a:xfrm>
            <a:off x="777240" y="2315155"/>
            <a:ext cx="7772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BBC, ABC, CBC, and Al Jazeera predictions were broadly consistent with Media Bias Chart placements in both models. RoBERTa improved all three class F1 scores, with the largest gain on center articles (+0.14), which were hardest for the LSTM to distinguish.</a:t>
            </a:r>
            <a:endParaRPr b="0" i="0" sz="1100" u="none" cap="none" strike="noStrike">
              <a:solidFill>
                <a:schemeClr val="dk1"/>
              </a:solidFill>
              <a:latin typeface="DM Sans"/>
              <a:ea typeface="DM Sans"/>
              <a:cs typeface="DM Sans"/>
              <a:sym typeface="DM Sans"/>
            </a:endParaRPr>
          </a:p>
        </p:txBody>
      </p:sp>
      <p:sp>
        <p:nvSpPr>
          <p:cNvPr id="308" name="Google Shape;308;p21"/>
          <p:cNvSpPr/>
          <p:nvPr/>
        </p:nvSpPr>
        <p:spPr>
          <a:xfrm>
            <a:off x="457200" y="2971800"/>
            <a:ext cx="201168" cy="77724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09" name="Google Shape;309;p21"/>
          <p:cNvSpPr/>
          <p:nvPr/>
        </p:nvSpPr>
        <p:spPr>
          <a:xfrm>
            <a:off x="777240" y="2948675"/>
            <a:ext cx="7863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Out-of-distribution: fails instructively</a:t>
            </a:r>
            <a:endParaRPr b="0" i="0" sz="1300" u="none" cap="none" strike="noStrike">
              <a:solidFill>
                <a:schemeClr val="dk1"/>
              </a:solidFill>
              <a:latin typeface="DM Sans"/>
              <a:ea typeface="DM Sans"/>
              <a:cs typeface="DM Sans"/>
              <a:sym typeface="DM Sans"/>
            </a:endParaRPr>
          </a:p>
        </p:txBody>
      </p:sp>
      <p:sp>
        <p:nvSpPr>
          <p:cNvPr id="310" name="Google Shape;310;p21"/>
          <p:cNvSpPr/>
          <p:nvPr/>
        </p:nvSpPr>
        <p:spPr>
          <a:xfrm>
            <a:off x="777240" y="3242144"/>
            <a:ext cx="7772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lang="en-US" sz="1100">
                <a:solidFill>
                  <a:srgbClr val="1E293B"/>
                </a:solidFill>
                <a:latin typeface="DM Sans"/>
                <a:ea typeface="DM Sans"/>
                <a:cs typeface="DM Sans"/>
                <a:sym typeface="DM Sans"/>
              </a:rPr>
              <a:t>T</a:t>
            </a:r>
            <a:r>
              <a:rPr b="0" i="0" lang="en-US" sz="1100" u="none" cap="none" strike="noStrike">
                <a:solidFill>
                  <a:srgbClr val="1E293B"/>
                </a:solidFill>
                <a:latin typeface="DM Sans"/>
                <a:ea typeface="DM Sans"/>
                <a:cs typeface="DM Sans"/>
                <a:sym typeface="DM Sans"/>
              </a:rPr>
              <a:t>he BiLSTM responded to surface-level features resembling left-leaning sources. The ordinal RoBERTa model resolved this: FOX right share jumped from 11.6% to 74.9%, confirming the LSTM failure was a training distribution problem, not a fundamental limitation of the task.</a:t>
            </a:r>
            <a:endParaRPr b="0" i="0" sz="1100" u="none" cap="none" strike="noStrike">
              <a:solidFill>
                <a:schemeClr val="dk1"/>
              </a:solidFill>
              <a:latin typeface="DM Sans"/>
              <a:ea typeface="DM Sans"/>
              <a:cs typeface="DM Sans"/>
              <a:sym typeface="DM Sans"/>
            </a:endParaRPr>
          </a:p>
        </p:txBody>
      </p:sp>
      <p:sp>
        <p:nvSpPr>
          <p:cNvPr id="311" name="Google Shape;311;p21"/>
          <p:cNvSpPr/>
          <p:nvPr/>
        </p:nvSpPr>
        <p:spPr>
          <a:xfrm>
            <a:off x="457200" y="3931920"/>
            <a:ext cx="201168" cy="777240"/>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12" name="Google Shape;312;p21"/>
          <p:cNvSpPr/>
          <p:nvPr/>
        </p:nvSpPr>
        <p:spPr>
          <a:xfrm>
            <a:off x="777240" y="3939625"/>
            <a:ext cx="78639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300"/>
              <a:buFont typeface="Calibri"/>
              <a:buNone/>
            </a:pPr>
            <a:r>
              <a:rPr b="1" i="0" lang="en-US" sz="1300" u="none" cap="none" strike="noStrike">
                <a:solidFill>
                  <a:srgbClr val="1E2761"/>
                </a:solidFill>
                <a:latin typeface="DM Sans"/>
                <a:ea typeface="DM Sans"/>
                <a:cs typeface="DM Sans"/>
                <a:sym typeface="DM Sans"/>
              </a:rPr>
              <a:t>The deeper challenge</a:t>
            </a:r>
            <a:endParaRPr b="0" i="0" sz="1300" u="none" cap="none" strike="noStrike">
              <a:solidFill>
                <a:schemeClr val="dk1"/>
              </a:solidFill>
              <a:latin typeface="DM Sans"/>
              <a:ea typeface="DM Sans"/>
              <a:cs typeface="DM Sans"/>
              <a:sym typeface="DM Sans"/>
            </a:endParaRPr>
          </a:p>
        </p:txBody>
      </p:sp>
      <p:sp>
        <p:nvSpPr>
          <p:cNvPr id="313" name="Google Shape;313;p21"/>
          <p:cNvSpPr/>
          <p:nvPr/>
        </p:nvSpPr>
        <p:spPr>
          <a:xfrm>
            <a:off x="777240" y="4220210"/>
            <a:ext cx="77724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DM Sans"/>
                <a:ea typeface="DM Sans"/>
                <a:cs typeface="DM Sans"/>
                <a:sym typeface="DM Sans"/>
              </a:rPr>
              <a:t>With ordinal encoding, errors are now mostly adjacent-class mistakes (center/left or center/right), not opposite-pole confusions. Only 10.9% of predictions are severe left/right errors — down from the LSTM baseline where FOX alone drove most catastrophic misclassifications.</a:t>
            </a:r>
            <a:endParaRPr b="0" i="0" sz="1100" u="none" cap="none" strike="noStrike">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12"/>
          <p:cNvSpPr/>
          <p:nvPr/>
        </p:nvSpPr>
        <p:spPr>
          <a:xfrm>
            <a:off x="457200" y="18288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Ethical Considerations</a:t>
            </a:r>
            <a:endParaRPr b="0" i="0" sz="2800" u="none" cap="none" strike="noStrike">
              <a:solidFill>
                <a:srgbClr val="008C8E"/>
              </a:solidFill>
              <a:latin typeface="DM Sans"/>
              <a:ea typeface="DM Sans"/>
              <a:cs typeface="DM Sans"/>
              <a:sym typeface="DM Sans"/>
            </a:endParaRPr>
          </a:p>
        </p:txBody>
      </p:sp>
      <p:sp>
        <p:nvSpPr>
          <p:cNvPr id="320" name="Google Shape;320;p12"/>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8C8E"/>
              </a:solidFill>
              <a:latin typeface="DM Sans"/>
              <a:ea typeface="DM Sans"/>
              <a:cs typeface="DM Sans"/>
              <a:sym typeface="DM Sans"/>
            </a:endParaRPr>
          </a:p>
        </p:txBody>
      </p:sp>
      <p:sp>
        <p:nvSpPr>
          <p:cNvPr id="321" name="Google Shape;321;p12"/>
          <p:cNvSpPr/>
          <p:nvPr/>
        </p:nvSpPr>
        <p:spPr>
          <a:xfrm>
            <a:off x="457200" y="1234440"/>
            <a:ext cx="4114800" cy="1554480"/>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22" name="Google Shape;322;p12"/>
          <p:cNvSpPr/>
          <p:nvPr/>
        </p:nvSpPr>
        <p:spPr>
          <a:xfrm>
            <a:off x="594360" y="132588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Calibri"/>
              <a:buNone/>
            </a:pPr>
            <a:r>
              <a:rPr b="1" i="0" lang="en-US" sz="1400" u="none" cap="none" strike="noStrike">
                <a:solidFill>
                  <a:srgbClr val="1E2761"/>
                </a:solidFill>
                <a:latin typeface="DM Sans"/>
                <a:ea typeface="DM Sans"/>
                <a:cs typeface="DM Sans"/>
                <a:sym typeface="DM Sans"/>
              </a:rPr>
              <a:t>Reductive Labels</a:t>
            </a:r>
            <a:endParaRPr b="0" i="0" sz="1400" u="none" cap="none" strike="noStrike">
              <a:solidFill>
                <a:schemeClr val="dk1"/>
              </a:solidFill>
              <a:latin typeface="DM Sans"/>
              <a:ea typeface="DM Sans"/>
              <a:cs typeface="DM Sans"/>
              <a:sym typeface="DM Sans"/>
            </a:endParaRPr>
          </a:p>
        </p:txBody>
      </p:sp>
      <p:sp>
        <p:nvSpPr>
          <p:cNvPr id="323" name="Google Shape;323;p12"/>
          <p:cNvSpPr/>
          <p:nvPr/>
        </p:nvSpPr>
        <p:spPr>
          <a:xfrm>
            <a:off x="594360" y="1709928"/>
            <a:ext cx="3840480" cy="960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434343"/>
                </a:solidFill>
                <a:latin typeface="DM Sans"/>
                <a:ea typeface="DM Sans"/>
                <a:cs typeface="DM Sans"/>
                <a:sym typeface="DM Sans"/>
              </a:rPr>
              <a:t>Left / Center / Right flattens complex ideology into three bins. This framing can reinforce the polarization we're trying to study.</a:t>
            </a:r>
            <a:endParaRPr b="0" i="0" sz="1100" u="none" cap="none" strike="noStrike">
              <a:solidFill>
                <a:srgbClr val="434343"/>
              </a:solidFill>
              <a:latin typeface="DM Sans"/>
              <a:ea typeface="DM Sans"/>
              <a:cs typeface="DM Sans"/>
              <a:sym typeface="DM Sans"/>
            </a:endParaRPr>
          </a:p>
        </p:txBody>
      </p:sp>
      <p:sp>
        <p:nvSpPr>
          <p:cNvPr id="324" name="Google Shape;324;p12"/>
          <p:cNvSpPr/>
          <p:nvPr/>
        </p:nvSpPr>
        <p:spPr>
          <a:xfrm>
            <a:off x="4846320" y="1234440"/>
            <a:ext cx="4114800" cy="1554480"/>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25" name="Google Shape;325;p12"/>
          <p:cNvSpPr/>
          <p:nvPr/>
        </p:nvSpPr>
        <p:spPr>
          <a:xfrm>
            <a:off x="4983480" y="132588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Calibri"/>
              <a:buNone/>
            </a:pPr>
            <a:r>
              <a:rPr b="1" i="0" lang="en-US" sz="1400" u="none" cap="none" strike="noStrike">
                <a:solidFill>
                  <a:srgbClr val="1E2761"/>
                </a:solidFill>
                <a:latin typeface="DM Sans"/>
                <a:ea typeface="DM Sans"/>
                <a:cs typeface="DM Sans"/>
                <a:sym typeface="DM Sans"/>
              </a:rPr>
              <a:t>Training Data Bias</a:t>
            </a:r>
            <a:endParaRPr b="0" i="0" sz="1400" u="none" cap="none" strike="noStrike">
              <a:solidFill>
                <a:schemeClr val="dk1"/>
              </a:solidFill>
              <a:latin typeface="DM Sans"/>
              <a:ea typeface="DM Sans"/>
              <a:cs typeface="DM Sans"/>
              <a:sym typeface="DM Sans"/>
            </a:endParaRPr>
          </a:p>
        </p:txBody>
      </p:sp>
      <p:sp>
        <p:nvSpPr>
          <p:cNvPr id="326" name="Google Shape;326;p12"/>
          <p:cNvSpPr/>
          <p:nvPr/>
        </p:nvSpPr>
        <p:spPr>
          <a:xfrm>
            <a:off x="4983480" y="1709928"/>
            <a:ext cx="3840480" cy="960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434343"/>
                </a:solidFill>
                <a:latin typeface="DM Sans"/>
                <a:ea typeface="DM Sans"/>
                <a:cs typeface="DM Sans"/>
                <a:sym typeface="DM Sans"/>
              </a:rPr>
              <a:t>Labels derive from media bias assessments that are not themselves neutral. Source-level labels applied to articles add another layer of uncertainty.</a:t>
            </a:r>
            <a:endParaRPr b="0" i="0" sz="1100" u="none" cap="none" strike="noStrike">
              <a:solidFill>
                <a:srgbClr val="434343"/>
              </a:solidFill>
              <a:latin typeface="DM Sans"/>
              <a:ea typeface="DM Sans"/>
              <a:cs typeface="DM Sans"/>
              <a:sym typeface="DM Sans"/>
            </a:endParaRPr>
          </a:p>
        </p:txBody>
      </p:sp>
      <p:sp>
        <p:nvSpPr>
          <p:cNvPr id="327" name="Google Shape;327;p12"/>
          <p:cNvSpPr/>
          <p:nvPr/>
        </p:nvSpPr>
        <p:spPr>
          <a:xfrm>
            <a:off x="457200" y="2926080"/>
            <a:ext cx="4114800" cy="1554480"/>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28" name="Google Shape;328;p12"/>
          <p:cNvSpPr/>
          <p:nvPr/>
        </p:nvSpPr>
        <p:spPr>
          <a:xfrm>
            <a:off x="594360" y="301752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Calibri"/>
              <a:buNone/>
            </a:pPr>
            <a:r>
              <a:rPr b="1" i="0" lang="en-US" sz="1400" u="none" cap="none" strike="noStrike">
                <a:solidFill>
                  <a:srgbClr val="1E2761"/>
                </a:solidFill>
                <a:latin typeface="DM Sans"/>
                <a:ea typeface="DM Sans"/>
                <a:cs typeface="DM Sans"/>
                <a:sym typeface="DM Sans"/>
              </a:rPr>
              <a:t>Misclassification Risk</a:t>
            </a:r>
            <a:endParaRPr b="0" i="0" sz="1400" u="none" cap="none" strike="noStrike">
              <a:solidFill>
                <a:schemeClr val="dk1"/>
              </a:solidFill>
              <a:latin typeface="DM Sans"/>
              <a:ea typeface="DM Sans"/>
              <a:cs typeface="DM Sans"/>
              <a:sym typeface="DM Sans"/>
            </a:endParaRPr>
          </a:p>
        </p:txBody>
      </p:sp>
      <p:sp>
        <p:nvSpPr>
          <p:cNvPr id="329" name="Google Shape;329;p12"/>
          <p:cNvSpPr/>
          <p:nvPr/>
        </p:nvSpPr>
        <p:spPr>
          <a:xfrm>
            <a:off x="594360" y="3401568"/>
            <a:ext cx="3840480" cy="960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434343"/>
                </a:solidFill>
                <a:latin typeface="DM Sans"/>
                <a:ea typeface="DM Sans"/>
                <a:cs typeface="DM Sans"/>
                <a:sym typeface="DM Sans"/>
              </a:rPr>
              <a:t>A system that labels FOX as 'left' could mislead users, erode trust, or be weaponized in automated moderation or recommendation pipelines.</a:t>
            </a:r>
            <a:endParaRPr b="0" i="0" sz="1100" u="none" cap="none" strike="noStrike">
              <a:solidFill>
                <a:srgbClr val="434343"/>
              </a:solidFill>
              <a:latin typeface="DM Sans"/>
              <a:ea typeface="DM Sans"/>
              <a:cs typeface="DM Sans"/>
              <a:sym typeface="DM Sans"/>
            </a:endParaRPr>
          </a:p>
        </p:txBody>
      </p:sp>
      <p:sp>
        <p:nvSpPr>
          <p:cNvPr id="330" name="Google Shape;330;p12"/>
          <p:cNvSpPr/>
          <p:nvPr/>
        </p:nvSpPr>
        <p:spPr>
          <a:xfrm>
            <a:off x="4846320" y="2926080"/>
            <a:ext cx="4114800" cy="1554480"/>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31" name="Google Shape;331;p12"/>
          <p:cNvSpPr/>
          <p:nvPr/>
        </p:nvSpPr>
        <p:spPr>
          <a:xfrm>
            <a:off x="4983480" y="301752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400"/>
              <a:buFont typeface="Calibri"/>
              <a:buNone/>
            </a:pPr>
            <a:r>
              <a:rPr b="1" i="0" lang="en-US" sz="1400" u="none" cap="none" strike="noStrike">
                <a:solidFill>
                  <a:srgbClr val="1E2761"/>
                </a:solidFill>
                <a:latin typeface="DM Sans"/>
                <a:ea typeface="DM Sans"/>
                <a:cs typeface="DM Sans"/>
                <a:sym typeface="DM Sans"/>
              </a:rPr>
              <a:t>Responsible Deployment</a:t>
            </a:r>
            <a:endParaRPr b="0" i="0" sz="1400" u="none" cap="none" strike="noStrike">
              <a:solidFill>
                <a:schemeClr val="dk1"/>
              </a:solidFill>
              <a:latin typeface="DM Sans"/>
              <a:ea typeface="DM Sans"/>
              <a:cs typeface="DM Sans"/>
              <a:sym typeface="DM Sans"/>
            </a:endParaRPr>
          </a:p>
        </p:txBody>
      </p:sp>
      <p:sp>
        <p:nvSpPr>
          <p:cNvPr id="332" name="Google Shape;332;p12"/>
          <p:cNvSpPr/>
          <p:nvPr/>
        </p:nvSpPr>
        <p:spPr>
          <a:xfrm>
            <a:off x="4983480" y="3401568"/>
            <a:ext cx="3840480" cy="9601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434343"/>
                </a:solidFill>
                <a:latin typeface="DM Sans"/>
                <a:ea typeface="DM Sans"/>
                <a:cs typeface="DM Sans"/>
                <a:sym typeface="DM Sans"/>
              </a:rPr>
              <a:t>Any real-world use should include confidence thresholds, transparent documentation of training data provenance, and explicit framing as probabilistic.</a:t>
            </a:r>
            <a:endParaRPr b="0" i="0" sz="1100" u="none" cap="none" strike="noStrike">
              <a:solidFill>
                <a:srgbClr val="434343"/>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2"/>
          <p:cNvSpPr/>
          <p:nvPr/>
        </p:nvSpPr>
        <p:spPr>
          <a:xfrm>
            <a:off x="457200" y="182880"/>
            <a:ext cx="8229600" cy="594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761"/>
              </a:buClr>
              <a:buSzPts val="2800"/>
              <a:buFont typeface="Calibri"/>
              <a:buNone/>
            </a:pPr>
            <a:r>
              <a:rPr b="1" i="0" lang="en-US" sz="2800" u="none" cap="none" strike="noStrike">
                <a:solidFill>
                  <a:srgbClr val="008C8E"/>
                </a:solidFill>
                <a:latin typeface="DM Sans"/>
                <a:ea typeface="DM Sans"/>
                <a:cs typeface="DM Sans"/>
                <a:sym typeface="DM Sans"/>
              </a:rPr>
              <a:t>Limitations &amp; Future Work</a:t>
            </a:r>
            <a:endParaRPr b="0" i="0" sz="2800" u="none" cap="none" strike="noStrike">
              <a:solidFill>
                <a:srgbClr val="008C8E"/>
              </a:solidFill>
              <a:latin typeface="DM Sans"/>
              <a:ea typeface="DM Sans"/>
              <a:cs typeface="DM Sans"/>
              <a:sym typeface="DM Sans"/>
            </a:endParaRPr>
          </a:p>
        </p:txBody>
      </p:sp>
      <p:sp>
        <p:nvSpPr>
          <p:cNvPr id="339" name="Google Shape;339;p22"/>
          <p:cNvSpPr/>
          <p:nvPr/>
        </p:nvSpPr>
        <p:spPr>
          <a:xfrm>
            <a:off x="457200" y="1005840"/>
            <a:ext cx="8229600" cy="36576"/>
          </a:xfrm>
          <a:prstGeom prst="rect">
            <a:avLst/>
          </a:prstGeom>
          <a:solidFill>
            <a:srgbClr val="008C8E"/>
          </a:solidFill>
          <a:ln cap="flat" cmpd="sng" w="12700">
            <a:solidFill>
              <a:srgbClr val="008C8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40" name="Google Shape;340;p22"/>
          <p:cNvSpPr/>
          <p:nvPr/>
        </p:nvSpPr>
        <p:spPr>
          <a:xfrm>
            <a:off x="457200" y="1188720"/>
            <a:ext cx="41148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500"/>
              <a:buFont typeface="Calibri"/>
              <a:buNone/>
            </a:pPr>
            <a:r>
              <a:rPr b="1" i="0" lang="en-US" sz="1500" u="none" cap="none" strike="noStrike">
                <a:solidFill>
                  <a:srgbClr val="DC2626"/>
                </a:solidFill>
                <a:highlight>
                  <a:srgbClr val="E3E3E3"/>
                </a:highlight>
                <a:latin typeface="DM Sans"/>
                <a:ea typeface="DM Sans"/>
                <a:cs typeface="DM Sans"/>
                <a:sym typeface="DM Sans"/>
              </a:rPr>
              <a:t>Limitations</a:t>
            </a:r>
            <a:endParaRPr b="0" i="0" sz="1500" u="none" cap="none" strike="noStrike">
              <a:solidFill>
                <a:schemeClr val="dk1"/>
              </a:solidFill>
              <a:highlight>
                <a:srgbClr val="E3E3E3"/>
              </a:highlight>
              <a:latin typeface="DM Sans"/>
              <a:ea typeface="DM Sans"/>
              <a:cs typeface="DM Sans"/>
              <a:sym typeface="DM Sans"/>
            </a:endParaRPr>
          </a:p>
        </p:txBody>
      </p:sp>
      <p:sp>
        <p:nvSpPr>
          <p:cNvPr id="341" name="Google Shape;341;p22"/>
          <p:cNvSpPr/>
          <p:nvPr/>
        </p:nvSpPr>
        <p:spPr>
          <a:xfrm>
            <a:off x="4846320" y="118872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803D"/>
              </a:buClr>
              <a:buSzPts val="1500"/>
              <a:buFont typeface="Calibri"/>
              <a:buNone/>
            </a:pPr>
            <a:r>
              <a:rPr b="1" i="0" lang="en-US" sz="1500" u="none" cap="none" strike="noStrike">
                <a:solidFill>
                  <a:srgbClr val="15803D"/>
                </a:solidFill>
                <a:highlight>
                  <a:srgbClr val="E3E3E3"/>
                </a:highlight>
                <a:latin typeface="DM Sans"/>
                <a:ea typeface="DM Sans"/>
                <a:cs typeface="DM Sans"/>
                <a:sym typeface="DM Sans"/>
              </a:rPr>
              <a:t>Future Work</a:t>
            </a:r>
            <a:endParaRPr b="0" i="0" sz="1500" u="none" cap="none" strike="noStrike">
              <a:solidFill>
                <a:schemeClr val="dk1"/>
              </a:solidFill>
              <a:highlight>
                <a:srgbClr val="E3E3E3"/>
              </a:highlight>
              <a:latin typeface="DM Sans"/>
              <a:ea typeface="DM Sans"/>
              <a:cs typeface="DM Sans"/>
              <a:sym typeface="DM Sans"/>
            </a:endParaRPr>
          </a:p>
        </p:txBody>
      </p:sp>
      <p:sp>
        <p:nvSpPr>
          <p:cNvPr id="342" name="Google Shape;342;p22"/>
          <p:cNvSpPr/>
          <p:nvPr/>
        </p:nvSpPr>
        <p:spPr>
          <a:xfrm>
            <a:off x="4617720" y="1143000"/>
            <a:ext cx="36576" cy="3840480"/>
          </a:xfrm>
          <a:prstGeom prst="rect">
            <a:avLst/>
          </a:prstGeom>
          <a:solidFill>
            <a:srgbClr val="94A3B8"/>
          </a:solidFill>
          <a:ln cap="flat" cmpd="sng" w="12700">
            <a:solidFill>
              <a:srgbClr val="94A3B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43" name="Google Shape;343;p22"/>
          <p:cNvSpPr/>
          <p:nvPr/>
        </p:nvSpPr>
        <p:spPr>
          <a:xfrm>
            <a:off x="457200" y="1645920"/>
            <a:ext cx="3931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DM Sans"/>
                <a:ea typeface="DM Sans"/>
                <a:cs typeface="DM Sans"/>
                <a:sym typeface="DM Sans"/>
              </a:rPr>
              <a:t>— Training distribution:</a:t>
            </a:r>
            <a:endParaRPr b="0" i="0" sz="1200" u="none" cap="none" strike="noStrike">
              <a:solidFill>
                <a:schemeClr val="dk1"/>
              </a:solidFill>
              <a:latin typeface="DM Sans"/>
              <a:ea typeface="DM Sans"/>
              <a:cs typeface="DM Sans"/>
              <a:sym typeface="DM Sans"/>
            </a:endParaRPr>
          </a:p>
        </p:txBody>
      </p:sp>
      <p:sp>
        <p:nvSpPr>
          <p:cNvPr id="344" name="Google Shape;344;p22"/>
          <p:cNvSpPr/>
          <p:nvPr/>
        </p:nvSpPr>
        <p:spPr>
          <a:xfrm>
            <a:off x="457200" y="1920240"/>
            <a:ext cx="3931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RoBERTa resolved the FOX failure, but model was trained on Article-Bias-Prediction sources only. Broader source diversity would further improve generalization.</a:t>
            </a:r>
            <a:endParaRPr b="0" i="0" sz="1100" u="none" cap="none" strike="noStrike">
              <a:solidFill>
                <a:schemeClr val="dk1"/>
              </a:solidFill>
              <a:latin typeface="DM Sans"/>
              <a:ea typeface="DM Sans"/>
              <a:cs typeface="DM Sans"/>
              <a:sym typeface="DM Sans"/>
            </a:endParaRPr>
          </a:p>
        </p:txBody>
      </p:sp>
      <p:sp>
        <p:nvSpPr>
          <p:cNvPr id="345" name="Google Shape;345;p22"/>
          <p:cNvSpPr/>
          <p:nvPr/>
        </p:nvSpPr>
        <p:spPr>
          <a:xfrm>
            <a:off x="457200" y="2487168"/>
            <a:ext cx="3931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DM Sans"/>
                <a:ea typeface="DM Sans"/>
                <a:cs typeface="DM Sans"/>
                <a:sym typeface="DM Sans"/>
              </a:rPr>
              <a:t>— Label granularity:</a:t>
            </a:r>
            <a:endParaRPr b="0" i="0" sz="1200" u="none" cap="none" strike="noStrike">
              <a:solidFill>
                <a:schemeClr val="dk1"/>
              </a:solidFill>
              <a:latin typeface="DM Sans"/>
              <a:ea typeface="DM Sans"/>
              <a:cs typeface="DM Sans"/>
              <a:sym typeface="DM Sans"/>
            </a:endParaRPr>
          </a:p>
        </p:txBody>
      </p:sp>
      <p:sp>
        <p:nvSpPr>
          <p:cNvPr id="346" name="Google Shape;346;p22"/>
          <p:cNvSpPr/>
          <p:nvPr/>
        </p:nvSpPr>
        <p:spPr>
          <a:xfrm>
            <a:off x="457200" y="2761488"/>
            <a:ext cx="3931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Three classes are coarse. Finer-grained scales (e.g. Ad Fontes 2D chart) could reveal more nuance.</a:t>
            </a:r>
            <a:endParaRPr b="0" i="0" sz="1100" u="none" cap="none" strike="noStrike">
              <a:solidFill>
                <a:schemeClr val="dk1"/>
              </a:solidFill>
              <a:latin typeface="DM Sans"/>
              <a:ea typeface="DM Sans"/>
              <a:cs typeface="DM Sans"/>
              <a:sym typeface="DM Sans"/>
            </a:endParaRPr>
          </a:p>
        </p:txBody>
      </p:sp>
      <p:sp>
        <p:nvSpPr>
          <p:cNvPr id="347" name="Google Shape;347;p22"/>
          <p:cNvSpPr/>
          <p:nvPr/>
        </p:nvSpPr>
        <p:spPr>
          <a:xfrm>
            <a:off x="457200" y="3328416"/>
            <a:ext cx="3931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DM Sans"/>
                <a:ea typeface="DM Sans"/>
                <a:cs typeface="DM Sans"/>
                <a:sym typeface="DM Sans"/>
              </a:rPr>
              <a:t>— Short-text limitation:</a:t>
            </a:r>
            <a:endParaRPr b="0" i="0" sz="1200" u="none" cap="none" strike="noStrike">
              <a:solidFill>
                <a:schemeClr val="dk1"/>
              </a:solidFill>
              <a:latin typeface="DM Sans"/>
              <a:ea typeface="DM Sans"/>
              <a:cs typeface="DM Sans"/>
              <a:sym typeface="DM Sans"/>
            </a:endParaRPr>
          </a:p>
        </p:txBody>
      </p:sp>
      <p:sp>
        <p:nvSpPr>
          <p:cNvPr id="348" name="Google Shape;348;p22"/>
          <p:cNvSpPr/>
          <p:nvPr/>
        </p:nvSpPr>
        <p:spPr>
          <a:xfrm>
            <a:off x="457200" y="3602736"/>
            <a:ext cx="3931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Long-form article model won't transfer to social media posts without retraining.</a:t>
            </a:r>
            <a:endParaRPr b="0" i="0" sz="1100" u="none" cap="none" strike="noStrike">
              <a:solidFill>
                <a:schemeClr val="dk1"/>
              </a:solidFill>
              <a:latin typeface="DM Sans"/>
              <a:ea typeface="DM Sans"/>
              <a:cs typeface="DM Sans"/>
              <a:sym typeface="DM Sans"/>
            </a:endParaRPr>
          </a:p>
        </p:txBody>
      </p:sp>
      <p:sp>
        <p:nvSpPr>
          <p:cNvPr id="349" name="Google Shape;349;p22"/>
          <p:cNvSpPr/>
          <p:nvPr/>
        </p:nvSpPr>
        <p:spPr>
          <a:xfrm>
            <a:off x="457200" y="4169664"/>
            <a:ext cx="39319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1" lang="en-US" sz="1200">
                <a:solidFill>
                  <a:srgbClr val="1E293B"/>
                </a:solidFill>
                <a:latin typeface="DM Sans"/>
                <a:ea typeface="DM Sans"/>
                <a:cs typeface="DM Sans"/>
                <a:sym typeface="DM Sans"/>
              </a:rPr>
              <a:t>— </a:t>
            </a:r>
            <a:r>
              <a:rPr b="1" i="0" lang="en-US" sz="1200" u="none" cap="none" strike="noStrike">
                <a:solidFill>
                  <a:srgbClr val="1E293B"/>
                </a:solidFill>
                <a:latin typeface="DM Sans"/>
                <a:ea typeface="DM Sans"/>
                <a:cs typeface="DM Sans"/>
                <a:sym typeface="DM Sans"/>
              </a:rPr>
              <a:t>Center over-prediction:</a:t>
            </a:r>
            <a:endParaRPr b="0" i="0" sz="1200" u="none" cap="none" strike="noStrike">
              <a:solidFill>
                <a:schemeClr val="dk1"/>
              </a:solidFill>
              <a:latin typeface="DM Sans"/>
              <a:ea typeface="DM Sans"/>
              <a:cs typeface="DM Sans"/>
              <a:sym typeface="DM Sans"/>
            </a:endParaRPr>
          </a:p>
        </p:txBody>
      </p:sp>
      <p:sp>
        <p:nvSpPr>
          <p:cNvPr id="350" name="Google Shape;350;p22"/>
          <p:cNvSpPr/>
          <p:nvPr/>
        </p:nvSpPr>
        <p:spPr>
          <a:xfrm>
            <a:off x="457200" y="4443984"/>
            <a:ext cx="3931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Center recall is high (0.96) but precision is lower (0.58) — the model over-predicts center. Threshold tuning per class could improve balance.</a:t>
            </a:r>
            <a:endParaRPr b="0" i="0" sz="1100" u="none" cap="none" strike="noStrike">
              <a:solidFill>
                <a:schemeClr val="dk1"/>
              </a:solidFill>
              <a:latin typeface="DM Sans"/>
              <a:ea typeface="DM Sans"/>
              <a:cs typeface="DM Sans"/>
              <a:sym typeface="DM Sans"/>
            </a:endParaRPr>
          </a:p>
        </p:txBody>
      </p:sp>
      <p:sp>
        <p:nvSpPr>
          <p:cNvPr id="351" name="Google Shape;351;p22"/>
          <p:cNvSpPr/>
          <p:nvPr/>
        </p:nvSpPr>
        <p:spPr>
          <a:xfrm>
            <a:off x="4846320" y="1645920"/>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DM Sans"/>
                <a:ea typeface="DM Sans"/>
                <a:cs typeface="DM Sans"/>
                <a:sym typeface="DM Sans"/>
              </a:rPr>
              <a:t>→ Expand training sources:</a:t>
            </a:r>
            <a:endParaRPr b="0" i="0" sz="1200" u="none" cap="none" strike="noStrike">
              <a:solidFill>
                <a:schemeClr val="dk1"/>
              </a:solidFill>
              <a:latin typeface="DM Sans"/>
              <a:ea typeface="DM Sans"/>
              <a:cs typeface="DM Sans"/>
              <a:sym typeface="DM Sans"/>
            </a:endParaRPr>
          </a:p>
        </p:txBody>
      </p:sp>
      <p:sp>
        <p:nvSpPr>
          <p:cNvPr id="352" name="Google Shape;352;p22"/>
          <p:cNvSpPr/>
          <p:nvPr/>
        </p:nvSpPr>
        <p:spPr>
          <a:xfrm>
            <a:off x="4846320" y="1920240"/>
            <a:ext cx="3840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Include FOX, NPR, and more international outlets to improve generalization.</a:t>
            </a:r>
            <a:endParaRPr b="0" i="0" sz="1100" u="none" cap="none" strike="noStrike">
              <a:solidFill>
                <a:schemeClr val="dk1"/>
              </a:solidFill>
              <a:latin typeface="DM Sans"/>
              <a:ea typeface="DM Sans"/>
              <a:cs typeface="DM Sans"/>
              <a:sym typeface="DM Sans"/>
            </a:endParaRPr>
          </a:p>
        </p:txBody>
      </p:sp>
      <p:sp>
        <p:nvSpPr>
          <p:cNvPr id="353" name="Google Shape;353;p22"/>
          <p:cNvSpPr/>
          <p:nvPr/>
        </p:nvSpPr>
        <p:spPr>
          <a:xfrm>
            <a:off x="4846320" y="2487168"/>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1" lang="en-US" sz="1200">
                <a:solidFill>
                  <a:srgbClr val="1E293B"/>
                </a:solidFill>
                <a:latin typeface="DM Sans"/>
                <a:ea typeface="DM Sans"/>
                <a:cs typeface="DM Sans"/>
                <a:sym typeface="DM Sans"/>
              </a:rPr>
              <a:t>→ </a:t>
            </a:r>
            <a:r>
              <a:rPr b="1" i="0" lang="en-US" sz="1200" u="none" cap="none" strike="noStrike">
                <a:solidFill>
                  <a:srgbClr val="1E293B"/>
                </a:solidFill>
                <a:latin typeface="DM Sans"/>
                <a:ea typeface="DM Sans"/>
                <a:cs typeface="DM Sans"/>
                <a:sym typeface="DM Sans"/>
              </a:rPr>
              <a:t>Full transformer scale:</a:t>
            </a:r>
            <a:endParaRPr b="0" i="0" sz="1200" u="none" cap="none" strike="noStrike">
              <a:solidFill>
                <a:schemeClr val="dk1"/>
              </a:solidFill>
              <a:latin typeface="DM Sans"/>
              <a:ea typeface="DM Sans"/>
              <a:cs typeface="DM Sans"/>
              <a:sym typeface="DM Sans"/>
            </a:endParaRPr>
          </a:p>
        </p:txBody>
      </p:sp>
      <p:sp>
        <p:nvSpPr>
          <p:cNvPr id="354" name="Google Shape;354;p22"/>
          <p:cNvSpPr/>
          <p:nvPr/>
        </p:nvSpPr>
        <p:spPr>
          <a:xfrm>
            <a:off x="4846320" y="2761488"/>
            <a:ext cx="3840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DistilRoBERTa is lighter than full RoBERTa. A full RoBERTa-large fine-tune may yield further gains at higher compute cost.</a:t>
            </a:r>
            <a:endParaRPr b="0" i="0" sz="1100" u="none" cap="none" strike="noStrike">
              <a:solidFill>
                <a:schemeClr val="dk1"/>
              </a:solidFill>
              <a:latin typeface="DM Sans"/>
              <a:ea typeface="DM Sans"/>
              <a:cs typeface="DM Sans"/>
              <a:sym typeface="DM Sans"/>
            </a:endParaRPr>
          </a:p>
        </p:txBody>
      </p:sp>
      <p:sp>
        <p:nvSpPr>
          <p:cNvPr id="355" name="Google Shape;355;p22"/>
          <p:cNvSpPr/>
          <p:nvPr/>
        </p:nvSpPr>
        <p:spPr>
          <a:xfrm>
            <a:off x="4846320" y="3328416"/>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DM Sans"/>
                <a:ea typeface="DM Sans"/>
                <a:cs typeface="DM Sans"/>
                <a:sym typeface="DM Sans"/>
              </a:rPr>
              <a:t>→ Social media extension:</a:t>
            </a:r>
            <a:endParaRPr b="0" i="0" sz="1200" u="none" cap="none" strike="noStrike">
              <a:solidFill>
                <a:schemeClr val="dk1"/>
              </a:solidFill>
              <a:latin typeface="DM Sans"/>
              <a:ea typeface="DM Sans"/>
              <a:cs typeface="DM Sans"/>
              <a:sym typeface="DM Sans"/>
            </a:endParaRPr>
          </a:p>
        </p:txBody>
      </p:sp>
      <p:sp>
        <p:nvSpPr>
          <p:cNvPr id="356" name="Google Shape;356;p22"/>
          <p:cNvSpPr/>
          <p:nvPr/>
        </p:nvSpPr>
        <p:spPr>
          <a:xfrm>
            <a:off x="4846320" y="3602736"/>
            <a:ext cx="3840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Apply framework to political tweets or Reddit posts</a:t>
            </a:r>
            <a:endParaRPr b="0" i="0" sz="1100" u="none" cap="none" strike="noStrike">
              <a:solidFill>
                <a:schemeClr val="dk1"/>
              </a:solidFill>
              <a:latin typeface="DM Sans"/>
              <a:ea typeface="DM Sans"/>
              <a:cs typeface="DM Sans"/>
              <a:sym typeface="DM Sans"/>
            </a:endParaRPr>
          </a:p>
        </p:txBody>
      </p:sp>
      <p:sp>
        <p:nvSpPr>
          <p:cNvPr id="357" name="Google Shape;357;p22"/>
          <p:cNvSpPr/>
          <p:nvPr/>
        </p:nvSpPr>
        <p:spPr>
          <a:xfrm>
            <a:off x="4846320" y="4169664"/>
            <a:ext cx="38404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DM Sans"/>
                <a:ea typeface="DM Sans"/>
                <a:cs typeface="DM Sans"/>
                <a:sym typeface="DM Sans"/>
              </a:rPr>
              <a:t>→ Confidence calibration:</a:t>
            </a:r>
            <a:endParaRPr b="0" i="0" sz="1200" u="none" cap="none" strike="noStrike">
              <a:solidFill>
                <a:schemeClr val="dk1"/>
              </a:solidFill>
              <a:latin typeface="DM Sans"/>
              <a:ea typeface="DM Sans"/>
              <a:cs typeface="DM Sans"/>
              <a:sym typeface="DM Sans"/>
            </a:endParaRPr>
          </a:p>
        </p:txBody>
      </p:sp>
      <p:sp>
        <p:nvSpPr>
          <p:cNvPr id="358" name="Google Shape;358;p22"/>
          <p:cNvSpPr/>
          <p:nvPr/>
        </p:nvSpPr>
        <p:spPr>
          <a:xfrm>
            <a:off x="4846320" y="4443984"/>
            <a:ext cx="3840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DM Sans"/>
                <a:ea typeface="DM Sans"/>
                <a:cs typeface="DM Sans"/>
                <a:sym typeface="DM Sans"/>
              </a:rPr>
              <a:t>Pair predictions with calibrated uncertainty estimates for safer deployment.</a:t>
            </a:r>
            <a:endParaRPr b="0" i="0" sz="1100" u="none" cap="none" strike="noStrike">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C8E"/>
        </a:solidFill>
      </p:bgPr>
    </p:bg>
    <p:spTree>
      <p:nvGrpSpPr>
        <p:cNvPr id="363" name="Shape 363"/>
        <p:cNvGrpSpPr/>
        <p:nvPr/>
      </p:nvGrpSpPr>
      <p:grpSpPr>
        <a:xfrm>
          <a:off x="0" y="0"/>
          <a:ext cx="0" cy="0"/>
          <a:chOff x="0" y="0"/>
          <a:chExt cx="0" cy="0"/>
        </a:xfrm>
      </p:grpSpPr>
      <p:sp>
        <p:nvSpPr>
          <p:cNvPr id="364" name="Google Shape;364;p14"/>
          <p:cNvSpPr/>
          <p:nvPr/>
        </p:nvSpPr>
        <p:spPr>
          <a:xfrm>
            <a:off x="640080" y="457200"/>
            <a:ext cx="78639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200"/>
              <a:buFont typeface="Calibri"/>
              <a:buNone/>
            </a:pPr>
            <a:r>
              <a:rPr b="1" i="0" lang="en-US" sz="3200" u="none" cap="none" strike="noStrike">
                <a:solidFill>
                  <a:srgbClr val="FFFFFF"/>
                </a:solidFill>
                <a:latin typeface="DM Sans"/>
                <a:ea typeface="DM Sans"/>
                <a:cs typeface="DM Sans"/>
                <a:sym typeface="DM Sans"/>
              </a:rPr>
              <a:t>Conclusion</a:t>
            </a:r>
            <a:endParaRPr b="0" i="0" sz="3200" u="none" cap="none" strike="noStrike">
              <a:solidFill>
                <a:schemeClr val="dk1"/>
              </a:solidFill>
              <a:latin typeface="DM Sans"/>
              <a:ea typeface="DM Sans"/>
              <a:cs typeface="DM Sans"/>
              <a:sym typeface="DM Sans"/>
            </a:endParaRPr>
          </a:p>
        </p:txBody>
      </p:sp>
      <p:sp>
        <p:nvSpPr>
          <p:cNvPr id="365" name="Google Shape;365;p14"/>
          <p:cNvSpPr/>
          <p:nvPr/>
        </p:nvSpPr>
        <p:spPr>
          <a:xfrm>
            <a:off x="640080" y="1024128"/>
            <a:ext cx="2743200" cy="45720"/>
          </a:xfrm>
          <a:prstGeom prst="rect">
            <a:avLst/>
          </a:prstGeom>
          <a:solidFill>
            <a:srgbClr val="F4F4F4"/>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66" name="Google Shape;366;p14"/>
          <p:cNvSpPr/>
          <p:nvPr/>
        </p:nvSpPr>
        <p:spPr>
          <a:xfrm>
            <a:off x="640080" y="1188720"/>
            <a:ext cx="502920" cy="502920"/>
          </a:xfrm>
          <a:prstGeom prst="rect">
            <a:avLst/>
          </a:prstGeom>
          <a:solidFill>
            <a:srgbClr val="2563EB"/>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67" name="Google Shape;367;p14"/>
          <p:cNvSpPr/>
          <p:nvPr/>
        </p:nvSpPr>
        <p:spPr>
          <a:xfrm>
            <a:off x="640080" y="1188720"/>
            <a:ext cx="502920" cy="502920"/>
          </a:xfrm>
          <a:prstGeom prst="rect">
            <a:avLst/>
          </a:prstGeom>
          <a:solidFill>
            <a:srgbClr val="F4F4F4"/>
          </a:solidFill>
          <a:ln cap="flat" cmpd="sng" w="9525">
            <a:solidFill>
              <a:srgbClr val="F4F4F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434343"/>
                </a:solidFill>
                <a:latin typeface="DM Sans"/>
                <a:ea typeface="DM Sans"/>
                <a:cs typeface="DM Sans"/>
                <a:sym typeface="DM Sans"/>
              </a:rPr>
              <a:t>01</a:t>
            </a:r>
            <a:endParaRPr b="0" i="0" sz="1300" u="none" cap="none" strike="noStrike">
              <a:solidFill>
                <a:srgbClr val="434343"/>
              </a:solidFill>
              <a:latin typeface="DM Sans"/>
              <a:ea typeface="DM Sans"/>
              <a:cs typeface="DM Sans"/>
              <a:sym typeface="DM Sans"/>
            </a:endParaRPr>
          </a:p>
        </p:txBody>
      </p:sp>
      <p:sp>
        <p:nvSpPr>
          <p:cNvPr id="368" name="Google Shape;368;p14"/>
          <p:cNvSpPr/>
          <p:nvPr/>
        </p:nvSpPr>
        <p:spPr>
          <a:xfrm>
            <a:off x="1280160" y="1225296"/>
            <a:ext cx="7406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F4F4F4"/>
                </a:solidFill>
                <a:latin typeface="DM Sans"/>
                <a:ea typeface="DM Sans"/>
                <a:cs typeface="DM Sans"/>
                <a:sym typeface="DM Sans"/>
              </a:rPr>
              <a:t>Political leaning IS detectable from article text — upgraded to 71.9% accuracy (vs. 61.4% baseline), nearly double the 33% random baseline.</a:t>
            </a:r>
            <a:endParaRPr/>
          </a:p>
        </p:txBody>
      </p:sp>
      <p:sp>
        <p:nvSpPr>
          <p:cNvPr id="369" name="Google Shape;369;p14"/>
          <p:cNvSpPr/>
          <p:nvPr/>
        </p:nvSpPr>
        <p:spPr>
          <a:xfrm>
            <a:off x="640080" y="1938528"/>
            <a:ext cx="502920" cy="502920"/>
          </a:xfrm>
          <a:prstGeom prst="rect">
            <a:avLst/>
          </a:prstGeom>
          <a:solidFill>
            <a:srgbClr val="2563EB"/>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70" name="Google Shape;370;p14"/>
          <p:cNvSpPr/>
          <p:nvPr/>
        </p:nvSpPr>
        <p:spPr>
          <a:xfrm>
            <a:off x="640080" y="1938528"/>
            <a:ext cx="502920" cy="502920"/>
          </a:xfrm>
          <a:prstGeom prst="rect">
            <a:avLst/>
          </a:prstGeom>
          <a:solidFill>
            <a:srgbClr val="F4F4F4"/>
          </a:solidFill>
          <a:ln cap="flat" cmpd="sng" w="9525">
            <a:solidFill>
              <a:srgbClr val="F4F4F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434343"/>
                </a:solidFill>
                <a:latin typeface="DM Sans"/>
                <a:ea typeface="DM Sans"/>
                <a:cs typeface="DM Sans"/>
                <a:sym typeface="DM Sans"/>
              </a:rPr>
              <a:t>02</a:t>
            </a:r>
            <a:endParaRPr b="0" i="0" sz="1300" u="none" cap="none" strike="noStrike">
              <a:solidFill>
                <a:srgbClr val="434343"/>
              </a:solidFill>
              <a:latin typeface="DM Sans"/>
              <a:ea typeface="DM Sans"/>
              <a:cs typeface="DM Sans"/>
              <a:sym typeface="DM Sans"/>
            </a:endParaRPr>
          </a:p>
        </p:txBody>
      </p:sp>
      <p:sp>
        <p:nvSpPr>
          <p:cNvPr id="371" name="Google Shape;371;p14"/>
          <p:cNvSpPr/>
          <p:nvPr/>
        </p:nvSpPr>
        <p:spPr>
          <a:xfrm>
            <a:off x="1280160" y="1975104"/>
            <a:ext cx="7406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F4F4F4"/>
                </a:solidFill>
                <a:latin typeface="DM Sans"/>
                <a:ea typeface="DM Sans"/>
                <a:cs typeface="DM Sans"/>
                <a:sym typeface="DM Sans"/>
              </a:rPr>
              <a:t>Ordinal encoding improves fairness of evaluation: errors are mostly adjacent-class mistakes. Only 10.9% of predictions are severe opposite-pole errors.</a:t>
            </a:r>
            <a:endParaRPr/>
          </a:p>
        </p:txBody>
      </p:sp>
      <p:sp>
        <p:nvSpPr>
          <p:cNvPr id="372" name="Google Shape;372;p14"/>
          <p:cNvSpPr/>
          <p:nvPr/>
        </p:nvSpPr>
        <p:spPr>
          <a:xfrm>
            <a:off x="640080" y="2688336"/>
            <a:ext cx="502920" cy="502920"/>
          </a:xfrm>
          <a:prstGeom prst="rect">
            <a:avLst/>
          </a:prstGeom>
          <a:solidFill>
            <a:srgbClr val="2563EB"/>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73" name="Google Shape;373;p14"/>
          <p:cNvSpPr/>
          <p:nvPr/>
        </p:nvSpPr>
        <p:spPr>
          <a:xfrm>
            <a:off x="640080" y="2688336"/>
            <a:ext cx="502920" cy="502920"/>
          </a:xfrm>
          <a:prstGeom prst="rect">
            <a:avLst/>
          </a:prstGeom>
          <a:solidFill>
            <a:srgbClr val="F4F4F4"/>
          </a:solidFill>
          <a:ln cap="flat" cmpd="sng" w="9525">
            <a:solidFill>
              <a:srgbClr val="F4F4F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434343"/>
                </a:solidFill>
                <a:latin typeface="DM Sans"/>
                <a:ea typeface="DM Sans"/>
                <a:cs typeface="DM Sans"/>
                <a:sym typeface="DM Sans"/>
              </a:rPr>
              <a:t>03</a:t>
            </a:r>
            <a:endParaRPr b="0" i="0" sz="1300" u="none" cap="none" strike="noStrike">
              <a:solidFill>
                <a:srgbClr val="434343"/>
              </a:solidFill>
              <a:latin typeface="DM Sans"/>
              <a:ea typeface="DM Sans"/>
              <a:cs typeface="DM Sans"/>
              <a:sym typeface="DM Sans"/>
            </a:endParaRPr>
          </a:p>
        </p:txBody>
      </p:sp>
      <p:sp>
        <p:nvSpPr>
          <p:cNvPr id="374" name="Google Shape;374;p14"/>
          <p:cNvSpPr/>
          <p:nvPr/>
        </p:nvSpPr>
        <p:spPr>
          <a:xfrm>
            <a:off x="1280160" y="2724912"/>
            <a:ext cx="7406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F4F4F4"/>
                </a:solidFill>
                <a:latin typeface="DM Sans"/>
                <a:ea typeface="DM Sans"/>
                <a:cs typeface="DM Sans"/>
                <a:sym typeface="DM Sans"/>
              </a:rPr>
              <a:t>The BiLSTM FOX failure was diagnosed and resolved: upgrading to DistilRoBERTa raised FOX right-share from 11.6% to 74.9%.</a:t>
            </a:r>
            <a:endParaRPr/>
          </a:p>
        </p:txBody>
      </p:sp>
      <p:sp>
        <p:nvSpPr>
          <p:cNvPr id="375" name="Google Shape;375;p14"/>
          <p:cNvSpPr/>
          <p:nvPr/>
        </p:nvSpPr>
        <p:spPr>
          <a:xfrm>
            <a:off x="640080" y="3438144"/>
            <a:ext cx="502920" cy="502920"/>
          </a:xfrm>
          <a:prstGeom prst="rect">
            <a:avLst/>
          </a:prstGeom>
          <a:solidFill>
            <a:srgbClr val="2563EB"/>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76" name="Google Shape;376;p14"/>
          <p:cNvSpPr/>
          <p:nvPr/>
        </p:nvSpPr>
        <p:spPr>
          <a:xfrm>
            <a:off x="640080" y="3438144"/>
            <a:ext cx="502920" cy="502920"/>
          </a:xfrm>
          <a:prstGeom prst="rect">
            <a:avLst/>
          </a:prstGeom>
          <a:solidFill>
            <a:srgbClr val="F4F4F4"/>
          </a:solidFill>
          <a:ln cap="flat" cmpd="sng" w="9525">
            <a:solidFill>
              <a:srgbClr val="F4F4F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434343"/>
                </a:solidFill>
                <a:latin typeface="DM Sans"/>
                <a:ea typeface="DM Sans"/>
                <a:cs typeface="DM Sans"/>
                <a:sym typeface="DM Sans"/>
              </a:rPr>
              <a:t>04</a:t>
            </a:r>
            <a:endParaRPr b="0" i="0" sz="1300" u="none" cap="none" strike="noStrike">
              <a:solidFill>
                <a:srgbClr val="434343"/>
              </a:solidFill>
              <a:latin typeface="DM Sans"/>
              <a:ea typeface="DM Sans"/>
              <a:cs typeface="DM Sans"/>
              <a:sym typeface="DM Sans"/>
            </a:endParaRPr>
          </a:p>
        </p:txBody>
      </p:sp>
      <p:sp>
        <p:nvSpPr>
          <p:cNvPr id="377" name="Google Shape;377;p14"/>
          <p:cNvSpPr/>
          <p:nvPr/>
        </p:nvSpPr>
        <p:spPr>
          <a:xfrm>
            <a:off x="1280160" y="3474720"/>
            <a:ext cx="7406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F4F4F4"/>
                </a:solidFill>
                <a:latin typeface="DM Sans"/>
                <a:ea typeface="DM Sans"/>
                <a:cs typeface="DM Sans"/>
                <a:sym typeface="DM Sans"/>
              </a:rPr>
              <a:t>NPR center share improved from 31.3% to 64.7% — the model now correctly handles genuinely centrist content.</a:t>
            </a:r>
            <a:endParaRPr/>
          </a:p>
        </p:txBody>
      </p:sp>
      <p:sp>
        <p:nvSpPr>
          <p:cNvPr id="378" name="Google Shape;378;p14"/>
          <p:cNvSpPr/>
          <p:nvPr/>
        </p:nvSpPr>
        <p:spPr>
          <a:xfrm>
            <a:off x="640080" y="4187952"/>
            <a:ext cx="502920" cy="502920"/>
          </a:xfrm>
          <a:prstGeom prst="rect">
            <a:avLst/>
          </a:prstGeom>
          <a:solidFill>
            <a:srgbClr val="2563EB"/>
          </a:solidFill>
          <a:ln cap="flat" cmpd="sng" w="12700">
            <a:solidFill>
              <a:srgbClr val="F4F4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DM Sans"/>
              <a:ea typeface="DM Sans"/>
              <a:cs typeface="DM Sans"/>
              <a:sym typeface="DM Sans"/>
            </a:endParaRPr>
          </a:p>
        </p:txBody>
      </p:sp>
      <p:sp>
        <p:nvSpPr>
          <p:cNvPr id="379" name="Google Shape;379;p14"/>
          <p:cNvSpPr/>
          <p:nvPr/>
        </p:nvSpPr>
        <p:spPr>
          <a:xfrm>
            <a:off x="640080" y="4187952"/>
            <a:ext cx="502920" cy="502920"/>
          </a:xfrm>
          <a:prstGeom prst="rect">
            <a:avLst/>
          </a:prstGeom>
          <a:solidFill>
            <a:srgbClr val="F4F4F4"/>
          </a:solidFill>
          <a:ln cap="flat" cmpd="sng" w="9525">
            <a:solidFill>
              <a:srgbClr val="F4F4F4"/>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Calibri"/>
              <a:buNone/>
            </a:pPr>
            <a:r>
              <a:rPr b="1" i="0" lang="en-US" sz="1300" u="none" cap="none" strike="noStrike">
                <a:solidFill>
                  <a:srgbClr val="434343"/>
                </a:solidFill>
                <a:latin typeface="DM Sans"/>
                <a:ea typeface="DM Sans"/>
                <a:cs typeface="DM Sans"/>
                <a:sym typeface="DM Sans"/>
              </a:rPr>
              <a:t>05</a:t>
            </a:r>
            <a:endParaRPr b="0" i="0" sz="1300" u="none" cap="none" strike="noStrike">
              <a:solidFill>
                <a:srgbClr val="434343"/>
              </a:solidFill>
              <a:latin typeface="DM Sans"/>
              <a:ea typeface="DM Sans"/>
              <a:cs typeface="DM Sans"/>
              <a:sym typeface="DM Sans"/>
            </a:endParaRPr>
          </a:p>
        </p:txBody>
      </p:sp>
      <p:sp>
        <p:nvSpPr>
          <p:cNvPr id="380" name="Google Shape;380;p14"/>
          <p:cNvSpPr/>
          <p:nvPr/>
        </p:nvSpPr>
        <p:spPr>
          <a:xfrm>
            <a:off x="1280160" y="4224528"/>
            <a:ext cx="74066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F4F4F4"/>
                </a:solidFill>
                <a:latin typeface="DM Sans"/>
                <a:ea typeface="DM Sans"/>
                <a:cs typeface="DM Sans"/>
                <a:sym typeface="DM Sans"/>
              </a:rPr>
              <a:t>Ethical deployment requires confidence thresholds, transparent provenance, and probabilistic framing.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2026-05-29T22:59:31Z</dcterms:created>
  <dc:creator>KTPML</dc:creator>
</cp:coreProperties>
</file>